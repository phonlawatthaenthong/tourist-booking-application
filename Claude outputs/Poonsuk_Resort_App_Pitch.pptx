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picture: this is Poonsuk Resort in Sadao at night. Our pitch is simple: we put the whole resort in a phone. Guests can book on their own, any time, and the team can run bookings, payments and rooms from 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customer we built for. Poonsuk Resort in Sadao, Songkhla: A-frame cottages in two room types, Single with a king-size bed and Twin with two beds. Check-in is 14:00 and check-out is 12:00. Every room has Wi-Fi, air conditioning, TV and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 stay starts with a phone call and the booking lives on paper. That creates six concrete gaps. Slow manual work, rooms at risk of being sold twice, no shared tool for staff, no live numbers for the owner, guests who can't see their booking status, and a dependence on travel sites that take a large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one mobile app with two sides. Guests get self-service booking around the clock. The resort team, staff and admins, sign in to the same app and get a full back office. Both sides share the same live data, so what a guest books is what staff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guest journey left to right. Choose dates and only free rooms appear. Pick a room and see photos and price. Booking holds the room for a short payment window. The guest scans a PromptPay QR that already has the exact total, pays with any banking app and uploads the slip. Staff confirm the slip in the app, and the confirmation email goes out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home screen: the resort photo on top shows how many rooms there are and the starting price, live from the system. Search is built around dates. Once a guest picks check-in and check-out, any room already taken for those nights simply drops out of the list, and the check covers every customer's bookings, not just their own. Filter by Single or Twin, or search by name, then open a room for photos, amenities, capacity and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uses PromptPay, which every Thai guest already knows. The app generates a QR code with the exact booking total, the guest pays from their own banking app and uploads the transfer slip. Staff check the slip in the Payments tab; if something is wrong, they reject it with a reason and the guest can upload again. While the guest pays, a countdown holds the room, and if nobody pays, the hold is released automatically so the room goes back on sale. No card or bank account numbers are ever stored. The screen on the right is the real payment page: the exact amount due, the countdown, and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booking, guests are never left guessing. My Bookings shows every booking and where it is, and pulling down refreshes it. They can cancel before the check-in day, with a confirmation step. When staff approve the payment, a confirmation email goes out automatically in Thai with the room, dates and check-in times, nights, guests, total paid and booking number. A forgotten password is reset with a code sent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also helps guests before and during the stay. The location page shows the resort on a map and opens Google Maps directions straight to the Poonsuk Resort@Sadao listing. The Dining tab lists restaurants around the resort by distance, with a map and directions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resort side. Staff and admins sign in to the same app and land in the back office. Everything the front desk does each day is here. In the Bookings tab they approve, reschedule or cancel, and filter by status. In the Payments tab they open the guest's transfer slip and approve it, or reject it with a reason. When guests arrive and leave, check-in and check-out are one tap, for paid bookings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up and running the property is just as simple. The Rooms tab adds or edits rooms, sets prices and takes photos straight from the phone. The maintenance switch hides a room from guest search until it is ready. The month calendar shows which rooms are booked each day, and tapping a day lists every room with its guest. Admins manage staff accounts; staff only do the daily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owner, the point is visibility. The dashboard on the left is the real admin screen: total revenue from paid bookings, total bookings, how many are still waiting for approval, and occupancy over the next 30 days, plus the most recent bookings. Reports add a bookings-by-status chart and a room inventory. No more waiting for the end of the month to know how the resort is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booking system is only useful if the resort can rely on it. Overlapping stays for the same room are rejected by the database itself, and we test the worst case: two guests booking the same room at the same instant, where exactly one succeeds and the other is told the room was just taken. Prices are calculated on the server, not the phone. Passwords are stored as secure hashes, login attempts are rate-limited, and roles control who can do what. Sentry error monitoring watches both the app and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value for each group. Guests get convenience: self-service booking 24 hours a day on an easy app. The owner gets more chances to earn from direct bookings and relies less on travel agencies that charge high commission, with live numbers on top. Staff get less paperwork and fewer data-entry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introduce the team, and open the floor for questions and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347"/>
        </a:solidFill>
      </p:bgPr>
    </p:bg>
    <p:spTree>
      <p:nvGrpSpPr>
        <p:cNvPr id="1" name=""/>
        <p:cNvGrpSpPr/>
        <p:nvPr/>
      </p:nvGrpSpPr>
      <p:grpSpPr>
        <a:xfrm>
          <a:off x="0" y="0"/>
          <a:ext cx="0" cy="0"/>
          <a:chOff x="0" y="0"/>
          <a:chExt cx="0" cy="0"/>
        </a:xfrm>
      </p:grpSpPr>
      <p:pic>
        <p:nvPicPr>
          <p:cNvPr id="2" name="Image 0" descr="/tmp/claude-0/-home-claude/7d06284d-c71b-56e0-9fd5-4b6c44927ce3/scratchpad/pptx/img/cover-night.jpg">    </p:cNvPr>
          <p:cNvPicPr>
            <a:picLocks noChangeAspect="1"/>
          </p:cNvPicPr>
          <p:nvPr/>
        </p:nvPicPr>
        <p:blipFill>
          <a:blip r:embed="rId1"/>
          <a:stretch>
            <a:fillRect/>
          </a:stretch>
        </p:blipFill>
        <p:spPr>
          <a:xfrm>
            <a:off x="0" y="0"/>
            <a:ext cx="12192000" cy="6858000"/>
          </a:xfrm>
          <a:prstGeom prst="rect">
            <a:avLst/>
          </a:prstGeom>
        </p:spPr>
      </p:pic>
      <p:pic>
        <p:nvPicPr>
          <p:cNvPr id="3" name="Image 1" descr="/tmp/claude-0/-home-claude/7d06284d-c71b-56e0-9fd5-4b6c44927ce3/scratchpad/pptx/img/cover-scrim.png">    </p:cNvPr>
          <p:cNvPicPr>
            <a:picLocks noChangeAspect="1"/>
          </p:cNvPicPr>
          <p:nvPr/>
        </p:nvPicPr>
        <p:blipFill>
          <a:blip r:embed="rId2"/>
          <a:stretch>
            <a:fillRect/>
          </a:stretch>
        </p:blipFill>
        <p:spPr>
          <a:xfrm>
            <a:off x="0" y="0"/>
            <a:ext cx="12192000" cy="6858000"/>
          </a:xfrm>
          <a:prstGeom prst="rect">
            <a:avLst/>
          </a:prstGeom>
        </p:spPr>
      </p:pic>
      <p:pic>
        <p:nvPicPr>
          <p:cNvPr id="4" name="Image 2" descr="/tmp/claude-0/-home-claude/7d06284d-c71b-56e0-9fd5-4b6c44927ce3/scratchpad/pptx/img/logo.png">    </p:cNvPr>
          <p:cNvPicPr>
            <a:picLocks noChangeAspect="1"/>
          </p:cNvPicPr>
          <p:nvPr/>
        </p:nvPicPr>
        <p:blipFill>
          <a:blip r:embed="rId3"/>
          <a:stretch>
            <a:fillRect/>
          </a:stretch>
        </p:blipFill>
        <p:spPr>
          <a:xfrm>
            <a:off x="812800" y="711200"/>
            <a:ext cx="1270000" cy="1270000"/>
          </a:xfrm>
          <a:prstGeom prst="rect">
            <a:avLst/>
          </a:prstGeom>
        </p:spPr>
      </p:pic>
      <p:sp>
        <p:nvSpPr>
          <p:cNvPr id="5" name="Text 0"/>
          <p:cNvSpPr txBox="1"/>
          <p:nvPr/>
        </p:nvSpPr>
        <p:spPr>
          <a:xfrm>
            <a:off x="812800" y="2279650"/>
            <a:ext cx="10769600" cy="2476500"/>
          </a:xfrm>
          <a:prstGeom prst="rect">
            <a:avLst/>
          </a:prstGeom>
          <a:noFill/>
          <a:ln/>
        </p:spPr>
        <p:txBody>
          <a:bodyPr wrap="square" lIns="0" tIns="0" rIns="0" bIns="0" rtlCol="0" anchor="t"/>
          <a:lstStyle/>
          <a:p>
            <a:pPr algn="l" indent="0" marL="0">
              <a:lnSpc>
                <a:spcPct val="100000"/>
              </a:lnSpc>
              <a:buNone/>
            </a:pPr>
            <a:r>
              <a:rPr lang="en-US" sz="6000" b="1" dirty="0">
                <a:solidFill>
                  <a:srgbClr val="FAF6EF"/>
                </a:solidFill>
                <a:latin typeface="Fredoka" pitchFamily="34" charset="0"/>
                <a:ea typeface="Fredoka" pitchFamily="34" charset="-122"/>
                <a:cs typeface="Fredoka" pitchFamily="34" charset="-120"/>
              </a:rPr>
              <a:t>Poonsuk Resort</a:t>
            </a:r>
            <a:endParaRPr lang="en-US" sz="6000" dirty="0"/>
          </a:p>
          <a:p>
            <a:pPr algn="l" indent="0" marL="0">
              <a:lnSpc>
                <a:spcPct val="100000"/>
              </a:lnSpc>
              <a:buNone/>
            </a:pPr>
            <a:r>
              <a:rPr lang="en-US" sz="6000" b="1" dirty="0">
                <a:solidFill>
                  <a:srgbClr val="FAF6EF"/>
                </a:solidFill>
                <a:latin typeface="Fredoka" pitchFamily="34" charset="0"/>
                <a:ea typeface="Fredoka" pitchFamily="34" charset="-122"/>
                <a:cs typeface="Fredoka" pitchFamily="34" charset="-120"/>
              </a:rPr>
              <a:t>Resort Booking &amp; Management App</a:t>
            </a:r>
            <a:endParaRPr lang="en-US" sz="6000" dirty="0"/>
          </a:p>
        </p:txBody>
      </p:sp>
      <p:sp>
        <p:nvSpPr>
          <p:cNvPr id="6" name="Text 1"/>
          <p:cNvSpPr txBox="1"/>
          <p:nvPr/>
        </p:nvSpPr>
        <p:spPr>
          <a:xfrm>
            <a:off x="812800" y="4883150"/>
            <a:ext cx="6985000" cy="762000"/>
          </a:xfrm>
          <a:prstGeom prst="rect">
            <a:avLst/>
          </a:prstGeom>
          <a:noFill/>
          <a:ln/>
        </p:spPr>
        <p:txBody>
          <a:bodyPr wrap="square" lIns="0" tIns="0" rIns="0" bIns="0" rtlCol="0" anchor="t"/>
          <a:lstStyle/>
          <a:p>
            <a:pPr algn="l" indent="0" marL="0">
              <a:lnSpc>
                <a:spcPct val="125000"/>
              </a:lnSpc>
              <a:buNone/>
            </a:pPr>
            <a:r>
              <a:rPr lang="en-US" sz="2200" dirty="0">
                <a:solidFill>
                  <a:srgbClr val="E3E9EE"/>
                </a:solidFill>
                <a:latin typeface="Nunito Sans" pitchFamily="34" charset="0"/>
                <a:ea typeface="Nunito Sans" pitchFamily="34" charset="-122"/>
                <a:cs typeface="Nunito Sans" pitchFamily="34" charset="-120"/>
              </a:rPr>
              <a:t>Guests book a cottage in minutes. The resort runs every booking, payment and room from one app.</a:t>
            </a:r>
            <a:endParaRPr lang="en-US" sz="2200" dirty="0"/>
          </a:p>
        </p:txBody>
      </p:sp>
      <p:sp>
        <p:nvSpPr>
          <p:cNvPr id="7" name="Text 2"/>
          <p:cNvSpPr txBox="1"/>
          <p:nvPr/>
        </p:nvSpPr>
        <p:spPr>
          <a:xfrm>
            <a:off x="812800" y="5816600"/>
            <a:ext cx="10566400" cy="254000"/>
          </a:xfrm>
          <a:prstGeom prst="rect">
            <a:avLst/>
          </a:prstGeom>
          <a:noFill/>
          <a:ln/>
        </p:spPr>
        <p:txBody>
          <a:bodyPr wrap="square" lIns="0" tIns="0" rIns="0" bIns="0" rtlCol="0" anchor="t"/>
          <a:lstStyle/>
          <a:p>
            <a:pPr algn="l" indent="0" marL="0">
              <a:lnSpc>
                <a:spcPct val="120000"/>
              </a:lnSpc>
              <a:buNone/>
            </a:pPr>
            <a:r>
              <a:rPr lang="en-US" sz="1300" dirty="0">
                <a:solidFill>
                  <a:srgbClr val="C9D4DE"/>
                </a:solidFill>
                <a:latin typeface="Nunito Sans" pitchFamily="34" charset="0"/>
                <a:ea typeface="Nunito Sans" pitchFamily="34" charset="-122"/>
                <a:cs typeface="Nunito Sans" pitchFamily="34" charset="-120"/>
              </a:rPr>
              <a:t>RBMA · Mobile app for Poonsuk Resort @Sadao, Songkhla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A8451C"/>
                </a:solidFill>
                <a:latin typeface="Nunito Sans" pitchFamily="34" charset="0"/>
                <a:ea typeface="Nunito Sans" pitchFamily="34" charset="-122"/>
                <a:cs typeface="Nunito Sans" pitchFamily="34" charset="-120"/>
              </a:rPr>
              <a:t>THE RESORT</a:t>
            </a:r>
            <a:endParaRPr lang="en-US" sz="1300" dirty="0"/>
          </a:p>
        </p:txBody>
      </p:sp>
      <p:sp>
        <p:nvSpPr>
          <p:cNvPr id="3" name="Text 1"/>
          <p:cNvSpPr txBox="1"/>
          <p:nvPr/>
        </p:nvSpPr>
        <p:spPr>
          <a:xfrm>
            <a:off x="812800" y="1143000"/>
            <a:ext cx="4826000" cy="10160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Cosy cottages in Sadao, Songkhla</a:t>
            </a:r>
            <a:endParaRPr lang="en-US" sz="3600" dirty="0"/>
          </a:p>
        </p:txBody>
      </p:sp>
      <p:sp>
        <p:nvSpPr>
          <p:cNvPr id="4" name="Text 2"/>
          <p:cNvSpPr txBox="1"/>
          <p:nvPr/>
        </p:nvSpPr>
        <p:spPr>
          <a:xfrm>
            <a:off x="812800" y="2260600"/>
            <a:ext cx="4826000" cy="889000"/>
          </a:xfrm>
          <a:prstGeom prst="rect">
            <a:avLst/>
          </a:prstGeom>
          <a:noFill/>
          <a:ln/>
        </p:spPr>
        <p:txBody>
          <a:bodyPr wrap="square" lIns="0" tIns="0" rIns="0" bIns="0" rtlCol="0" anchor="t"/>
          <a:lstStyle/>
          <a:p>
            <a:pPr algn="l" indent="0" marL="0">
              <a:lnSpc>
                <a:spcPct val="135000"/>
              </a:lnSpc>
              <a:buNone/>
            </a:pPr>
            <a:r>
              <a:rPr lang="en-US" sz="1600" dirty="0">
                <a:solidFill>
                  <a:srgbClr val="4A5360"/>
                </a:solidFill>
                <a:latin typeface="Nunito Sans" pitchFamily="34" charset="0"/>
                <a:ea typeface="Nunito Sans" pitchFamily="34" charset="-122"/>
                <a:cs typeface="Nunito Sans" pitchFamily="34" charset="-120"/>
              </a:rPr>
              <a:t>Poonsuk Resort @Sadao welcomes guests to bright A-frame cottages, each with its own porch, private bathroom and garden path.</a:t>
            </a:r>
            <a:endParaRPr lang="en-US" sz="1600" dirty="0"/>
          </a:p>
        </p:txBody>
      </p:sp>
      <p:sp>
        <p:nvSpPr>
          <p:cNvPr id="5" name="Shape 3"/>
          <p:cNvSpPr/>
          <p:nvPr/>
        </p:nvSpPr>
        <p:spPr>
          <a:xfrm>
            <a:off x="812800" y="3746500"/>
            <a:ext cx="4826000" cy="520700"/>
          </a:xfrm>
          <a:prstGeom prst="roundRect">
            <a:avLst>
              <a:gd name="adj" fmla="val 34265"/>
            </a:avLst>
          </a:prstGeom>
          <a:solidFill>
            <a:srgbClr val="FFFDF9"/>
          </a:solidFill>
          <a:ln w="9525">
            <a:solidFill>
              <a:srgbClr val="E6DCCD"/>
            </a:solidFill>
            <a:prstDash val="solid"/>
          </a:ln>
        </p:spPr>
      </p:sp>
      <p:pic>
        <p:nvPicPr>
          <p:cNvPr id="6" name="Image 0" descr="preencoded.png">    </p:cNvPr>
          <p:cNvPicPr>
            <a:picLocks noChangeAspect="1"/>
          </p:cNvPicPr>
          <p:nvPr/>
        </p:nvPicPr>
        <p:blipFill>
          <a:blip r:embed="rId1"/>
          <a:stretch>
            <a:fillRect/>
          </a:stretch>
        </p:blipFill>
        <p:spPr>
          <a:xfrm>
            <a:off x="990600" y="3867150"/>
            <a:ext cx="279400" cy="279400"/>
          </a:xfrm>
          <a:prstGeom prst="rect">
            <a:avLst/>
          </a:prstGeom>
        </p:spPr>
      </p:pic>
      <p:sp>
        <p:nvSpPr>
          <p:cNvPr id="7" name="Text 4"/>
          <p:cNvSpPr txBox="1"/>
          <p:nvPr/>
        </p:nvSpPr>
        <p:spPr>
          <a:xfrm>
            <a:off x="1397000" y="3746500"/>
            <a:ext cx="4127500" cy="520700"/>
          </a:xfrm>
          <a:prstGeom prst="rect">
            <a:avLst/>
          </a:prstGeom>
          <a:noFill/>
          <a:ln/>
        </p:spPr>
        <p:txBody>
          <a:bodyPr wrap="square" lIns="0" tIns="0" rIns="0" bIns="0" rtlCol="0" anchor="ctr"/>
          <a:lstStyle/>
          <a:p>
            <a:pPr indent="0" marL="0">
              <a:buNone/>
            </a:pPr>
            <a:r>
              <a:rPr lang="en-US" sz="1500" b="1" dirty="0">
                <a:solidFill>
                  <a:srgbClr val="1F3347"/>
                </a:solidFill>
                <a:latin typeface="Nunito Sans" pitchFamily="34" charset="0"/>
                <a:ea typeface="Nunito Sans" pitchFamily="34" charset="-122"/>
                <a:cs typeface="Nunito Sans" pitchFamily="34" charset="-120"/>
              </a:rPr>
              <a:t>Single</a:t>
            </a:r>
            <a:pPr indent="0" marL="0">
              <a:buNone/>
            </a:pPr>
            <a:r>
              <a:rPr lang="en-US" sz="1500" dirty="0">
                <a:solidFill>
                  <a:srgbClr val="1F3347"/>
                </a:solidFill>
                <a:latin typeface="Nunito Sans" pitchFamily="34" charset="0"/>
                <a:ea typeface="Nunito Sans" pitchFamily="34" charset="-122"/>
                <a:cs typeface="Nunito Sans" pitchFamily="34" charset="-120"/>
              </a:rPr>
              <a:t> · king-size bed, up to 2 guests</a:t>
            </a:r>
            <a:endParaRPr lang="en-US" sz="1500" dirty="0"/>
          </a:p>
        </p:txBody>
      </p:sp>
      <p:sp>
        <p:nvSpPr>
          <p:cNvPr id="8" name="Shape 5"/>
          <p:cNvSpPr/>
          <p:nvPr/>
        </p:nvSpPr>
        <p:spPr>
          <a:xfrm>
            <a:off x="812800" y="4368800"/>
            <a:ext cx="4826000" cy="520700"/>
          </a:xfrm>
          <a:prstGeom prst="roundRect">
            <a:avLst>
              <a:gd name="adj" fmla="val 34265"/>
            </a:avLst>
          </a:prstGeom>
          <a:solidFill>
            <a:srgbClr val="FFFDF9"/>
          </a:solidFill>
          <a:ln w="9525">
            <a:solidFill>
              <a:srgbClr val="E6DCCD"/>
            </a:solidFill>
            <a:prstDash val="solid"/>
          </a:ln>
        </p:spPr>
      </p:sp>
      <p:pic>
        <p:nvPicPr>
          <p:cNvPr id="9" name="Image 1" descr="preencoded.png">    </p:cNvPr>
          <p:cNvPicPr>
            <a:picLocks noChangeAspect="1"/>
          </p:cNvPicPr>
          <p:nvPr/>
        </p:nvPicPr>
        <p:blipFill>
          <a:blip r:embed="rId2"/>
          <a:stretch>
            <a:fillRect/>
          </a:stretch>
        </p:blipFill>
        <p:spPr>
          <a:xfrm>
            <a:off x="990600" y="4489450"/>
            <a:ext cx="279400" cy="279400"/>
          </a:xfrm>
          <a:prstGeom prst="rect">
            <a:avLst/>
          </a:prstGeom>
        </p:spPr>
      </p:pic>
      <p:sp>
        <p:nvSpPr>
          <p:cNvPr id="10" name="Text 6"/>
          <p:cNvSpPr txBox="1"/>
          <p:nvPr/>
        </p:nvSpPr>
        <p:spPr>
          <a:xfrm>
            <a:off x="1397000" y="4368800"/>
            <a:ext cx="4127500" cy="520700"/>
          </a:xfrm>
          <a:prstGeom prst="rect">
            <a:avLst/>
          </a:prstGeom>
          <a:noFill/>
          <a:ln/>
        </p:spPr>
        <p:txBody>
          <a:bodyPr wrap="square" lIns="0" tIns="0" rIns="0" bIns="0" rtlCol="0" anchor="ctr"/>
          <a:lstStyle/>
          <a:p>
            <a:pPr indent="0" marL="0">
              <a:buNone/>
            </a:pPr>
            <a:r>
              <a:rPr lang="en-US" sz="1500" b="1" dirty="0">
                <a:solidFill>
                  <a:srgbClr val="1F3347"/>
                </a:solidFill>
                <a:latin typeface="Nunito Sans" pitchFamily="34" charset="0"/>
                <a:ea typeface="Nunito Sans" pitchFamily="34" charset="-122"/>
                <a:cs typeface="Nunito Sans" pitchFamily="34" charset="-120"/>
              </a:rPr>
              <a:t>Twin</a:t>
            </a:r>
            <a:pPr indent="0" marL="0">
              <a:buNone/>
            </a:pPr>
            <a:r>
              <a:rPr lang="en-US" sz="1500" dirty="0">
                <a:solidFill>
                  <a:srgbClr val="1F3347"/>
                </a:solidFill>
                <a:latin typeface="Nunito Sans" pitchFamily="34" charset="0"/>
                <a:ea typeface="Nunito Sans" pitchFamily="34" charset="-122"/>
                <a:cs typeface="Nunito Sans" pitchFamily="34" charset="-120"/>
              </a:rPr>
              <a:t> · two beds, up to 2 guests</a:t>
            </a:r>
            <a:endParaRPr lang="en-US" sz="1500" dirty="0"/>
          </a:p>
        </p:txBody>
      </p:sp>
      <p:sp>
        <p:nvSpPr>
          <p:cNvPr id="11" name="Shape 7"/>
          <p:cNvSpPr/>
          <p:nvPr/>
        </p:nvSpPr>
        <p:spPr>
          <a:xfrm>
            <a:off x="812800" y="4991100"/>
            <a:ext cx="4826000" cy="520700"/>
          </a:xfrm>
          <a:prstGeom prst="roundRect">
            <a:avLst>
              <a:gd name="adj" fmla="val 34265"/>
            </a:avLst>
          </a:prstGeom>
          <a:solidFill>
            <a:srgbClr val="FFFDF9"/>
          </a:solidFill>
          <a:ln w="9525">
            <a:solidFill>
              <a:srgbClr val="E6DCCD"/>
            </a:solidFill>
            <a:prstDash val="solid"/>
          </a:ln>
        </p:spPr>
      </p:sp>
      <p:pic>
        <p:nvPicPr>
          <p:cNvPr id="12" name="Image 2" descr="preencoded.png">    </p:cNvPr>
          <p:cNvPicPr>
            <a:picLocks noChangeAspect="1"/>
          </p:cNvPicPr>
          <p:nvPr/>
        </p:nvPicPr>
        <p:blipFill>
          <a:blip r:embed="rId3"/>
          <a:stretch>
            <a:fillRect/>
          </a:stretch>
        </p:blipFill>
        <p:spPr>
          <a:xfrm>
            <a:off x="990600" y="5111750"/>
            <a:ext cx="279400" cy="279400"/>
          </a:xfrm>
          <a:prstGeom prst="rect">
            <a:avLst/>
          </a:prstGeom>
        </p:spPr>
      </p:pic>
      <p:sp>
        <p:nvSpPr>
          <p:cNvPr id="13" name="Text 8"/>
          <p:cNvSpPr txBox="1"/>
          <p:nvPr/>
        </p:nvSpPr>
        <p:spPr>
          <a:xfrm>
            <a:off x="1397000" y="4991100"/>
            <a:ext cx="4127500" cy="520700"/>
          </a:xfrm>
          <a:prstGeom prst="rect">
            <a:avLst/>
          </a:prstGeom>
          <a:noFill/>
          <a:ln/>
        </p:spPr>
        <p:txBody>
          <a:bodyPr wrap="square" lIns="0" tIns="0" rIns="0" bIns="0" rtlCol="0" anchor="ctr"/>
          <a:lstStyle/>
          <a:p>
            <a:pPr indent="0" marL="0">
              <a:buNone/>
            </a:pPr>
            <a:r>
              <a:rPr lang="en-US" sz="1500" b="1" dirty="0">
                <a:solidFill>
                  <a:srgbClr val="1F3347"/>
                </a:solidFill>
                <a:latin typeface="Nunito Sans" pitchFamily="34" charset="0"/>
                <a:ea typeface="Nunito Sans" pitchFamily="34" charset="-122"/>
                <a:cs typeface="Nunito Sans" pitchFamily="34" charset="-120"/>
              </a:rPr>
              <a:t>Check-in 14:00</a:t>
            </a:r>
            <a:pPr indent="0" marL="0">
              <a:buNone/>
            </a:pPr>
            <a:r>
              <a:rPr lang="en-US" sz="1500" dirty="0">
                <a:solidFill>
                  <a:srgbClr val="1F3347"/>
                </a:solidFill>
                <a:latin typeface="Nunito Sans" pitchFamily="34" charset="0"/>
                <a:ea typeface="Nunito Sans" pitchFamily="34" charset="-122"/>
                <a:cs typeface="Nunito Sans" pitchFamily="34" charset="-120"/>
              </a:rPr>
              <a:t> · Check-out 12:00</a:t>
            </a:r>
            <a:endParaRPr lang="en-US" sz="1500" dirty="0"/>
          </a:p>
        </p:txBody>
      </p:sp>
      <p:sp>
        <p:nvSpPr>
          <p:cNvPr id="14" name="Text 9"/>
          <p:cNvSpPr txBox="1"/>
          <p:nvPr/>
        </p:nvSpPr>
        <p:spPr>
          <a:xfrm>
            <a:off x="812800" y="5613400"/>
            <a:ext cx="4826000" cy="228600"/>
          </a:xfrm>
          <a:prstGeom prst="rect">
            <a:avLst/>
          </a:prstGeom>
          <a:noFill/>
          <a:ln/>
        </p:spPr>
        <p:txBody>
          <a:bodyPr wrap="square" lIns="0" tIns="0" rIns="0" bIns="0" rtlCol="0" anchor="t"/>
          <a:lstStyle/>
          <a:p>
            <a:pPr algn="l" indent="0" marL="0">
              <a:lnSpc>
                <a:spcPct val="120000"/>
              </a:lnSpc>
              <a:buNone/>
            </a:pPr>
            <a:r>
              <a:rPr lang="en-US" sz="1300" b="1" dirty="0">
                <a:solidFill>
                  <a:srgbClr val="2E6B3A"/>
                </a:solidFill>
                <a:latin typeface="Nunito Sans" pitchFamily="34" charset="0"/>
                <a:ea typeface="Nunito Sans" pitchFamily="34" charset="-122"/>
                <a:cs typeface="Nunito Sans" pitchFamily="34" charset="-120"/>
              </a:rPr>
              <a:t>Wi-Fi · Air conditioning · TV · Coffee in every room</a:t>
            </a:r>
            <a:endParaRPr lang="en-US" sz="1300" dirty="0"/>
          </a:p>
        </p:txBody>
      </p:sp>
      <p:pic>
        <p:nvPicPr>
          <p:cNvPr id="15" name="Image 3" descr="/tmp/claude-0/-home-claude/7d06284d-c71b-56e0-9fd5-4b6c44927ce3/scratchpad/pptx/img/resort-cottage.png">    </p:cNvPr>
          <p:cNvPicPr>
            <a:picLocks noChangeAspect="1"/>
          </p:cNvPicPr>
          <p:nvPr/>
        </p:nvPicPr>
        <p:blipFill>
          <a:blip r:embed="rId4"/>
          <a:stretch>
            <a:fillRect/>
          </a:stretch>
        </p:blipFill>
        <p:spPr>
          <a:xfrm>
            <a:off x="6146800" y="812800"/>
            <a:ext cx="2540000" cy="5029200"/>
          </a:xfrm>
          <a:prstGeom prst="rect">
            <a:avLst/>
          </a:prstGeom>
        </p:spPr>
      </p:pic>
      <p:pic>
        <p:nvPicPr>
          <p:cNvPr id="16" name="Image 4" descr="/tmp/claude-0/-home-claude/7d06284d-c71b-56e0-9fd5-4b6c44927ce3/scratchpad/pptx/img/resort-single.png">    </p:cNvPr>
          <p:cNvPicPr>
            <a:picLocks noChangeAspect="1"/>
          </p:cNvPicPr>
          <p:nvPr/>
        </p:nvPicPr>
        <p:blipFill>
          <a:blip r:embed="rId5"/>
          <a:stretch>
            <a:fillRect/>
          </a:stretch>
        </p:blipFill>
        <p:spPr>
          <a:xfrm>
            <a:off x="8839200" y="812800"/>
            <a:ext cx="2540000" cy="2438400"/>
          </a:xfrm>
          <a:prstGeom prst="rect">
            <a:avLst/>
          </a:prstGeom>
        </p:spPr>
      </p:pic>
      <p:pic>
        <p:nvPicPr>
          <p:cNvPr id="17" name="Image 5" descr="/tmp/claude-0/-home-claude/7d06284d-c71b-56e0-9fd5-4b6c44927ce3/scratchpad/pptx/img/resort-twin.png">    </p:cNvPr>
          <p:cNvPicPr>
            <a:picLocks noChangeAspect="1"/>
          </p:cNvPicPr>
          <p:nvPr/>
        </p:nvPicPr>
        <p:blipFill>
          <a:blip r:embed="rId6"/>
          <a:stretch>
            <a:fillRect/>
          </a:stretch>
        </p:blipFill>
        <p:spPr>
          <a:xfrm>
            <a:off x="8839200" y="3403600"/>
            <a:ext cx="2540000" cy="2438400"/>
          </a:xfrm>
          <a:prstGeom prst="rect">
            <a:avLst/>
          </a:prstGeom>
        </p:spPr>
      </p:pic>
      <p:sp>
        <p:nvSpPr>
          <p:cNvPr id="18" name="Text 10"/>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19" name="Text 11"/>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8DA"/>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96401A"/>
                </a:solidFill>
                <a:latin typeface="Nunito Sans" pitchFamily="34" charset="0"/>
                <a:ea typeface="Nunito Sans" pitchFamily="34" charset="-122"/>
                <a:cs typeface="Nunito Sans" pitchFamily="34" charset="-120"/>
              </a:rPr>
              <a:t>THE PROBLEM</a:t>
            </a:r>
            <a:endParaRPr lang="en-US" sz="1300" dirty="0"/>
          </a:p>
        </p:txBody>
      </p:sp>
      <p:sp>
        <p:nvSpPr>
          <p:cNvPr id="3" name="Text 1"/>
          <p:cNvSpPr txBox="1"/>
          <p:nvPr/>
        </p:nvSpPr>
        <p:spPr>
          <a:xfrm>
            <a:off x="812800" y="1143000"/>
            <a:ext cx="10566400" cy="10160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Booking by phone and paper loses guests and money</a:t>
            </a:r>
            <a:endParaRPr lang="en-US" sz="3600" dirty="0"/>
          </a:p>
        </p:txBody>
      </p:sp>
      <p:sp>
        <p:nvSpPr>
          <p:cNvPr id="4" name="Shape 2"/>
          <p:cNvSpPr/>
          <p:nvPr/>
        </p:nvSpPr>
        <p:spPr>
          <a:xfrm>
            <a:off x="812800" y="2476500"/>
            <a:ext cx="3384550" cy="1587500"/>
          </a:xfrm>
          <a:prstGeom prst="roundRect">
            <a:avLst>
              <a:gd name="adj" fmla="val 4608"/>
            </a:avLst>
          </a:prstGeom>
          <a:solidFill>
            <a:srgbClr val="FFFDF9"/>
          </a:solidFill>
          <a:ln/>
        </p:spPr>
      </p:sp>
      <p:pic>
        <p:nvPicPr>
          <p:cNvPr id="5" name="Image 0" descr="preencoded.png">    </p:cNvPr>
          <p:cNvPicPr>
            <a:picLocks noChangeAspect="1"/>
          </p:cNvPicPr>
          <p:nvPr/>
        </p:nvPicPr>
        <p:blipFill>
          <a:blip r:embed="rId1"/>
          <a:stretch>
            <a:fillRect/>
          </a:stretch>
        </p:blipFill>
        <p:spPr>
          <a:xfrm>
            <a:off x="1041400" y="2705100"/>
            <a:ext cx="254000" cy="254000"/>
          </a:xfrm>
          <a:prstGeom prst="rect">
            <a:avLst/>
          </a:prstGeom>
        </p:spPr>
      </p:pic>
      <p:sp>
        <p:nvSpPr>
          <p:cNvPr id="6" name="Text 3"/>
          <p:cNvSpPr txBox="1"/>
          <p:nvPr/>
        </p:nvSpPr>
        <p:spPr>
          <a:xfrm>
            <a:off x="1397000" y="2692400"/>
            <a:ext cx="26670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Slow and error-prone</a:t>
            </a:r>
            <a:endParaRPr lang="en-US" sz="1600" dirty="0"/>
          </a:p>
        </p:txBody>
      </p:sp>
      <p:sp>
        <p:nvSpPr>
          <p:cNvPr id="7" name="Text 4"/>
          <p:cNvSpPr txBox="1"/>
          <p:nvPr/>
        </p:nvSpPr>
        <p:spPr>
          <a:xfrm>
            <a:off x="1041400" y="3073400"/>
            <a:ext cx="2927350" cy="825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Bookings taken by phone and on paper take time and invite mistakes.</a:t>
            </a:r>
            <a:endParaRPr lang="en-US" sz="1300" dirty="0"/>
          </a:p>
        </p:txBody>
      </p:sp>
      <p:sp>
        <p:nvSpPr>
          <p:cNvPr id="8" name="Shape 5"/>
          <p:cNvSpPr/>
          <p:nvPr/>
        </p:nvSpPr>
        <p:spPr>
          <a:xfrm>
            <a:off x="4400550" y="2476500"/>
            <a:ext cx="3384550" cy="1587500"/>
          </a:xfrm>
          <a:prstGeom prst="roundRect">
            <a:avLst>
              <a:gd name="adj" fmla="val 4608"/>
            </a:avLst>
          </a:prstGeom>
          <a:solidFill>
            <a:srgbClr val="FFFDF9"/>
          </a:solidFill>
          <a:ln/>
        </p:spPr>
      </p:sp>
      <p:pic>
        <p:nvPicPr>
          <p:cNvPr id="9" name="Image 1" descr="preencoded.png">    </p:cNvPr>
          <p:cNvPicPr>
            <a:picLocks noChangeAspect="1"/>
          </p:cNvPicPr>
          <p:nvPr/>
        </p:nvPicPr>
        <p:blipFill>
          <a:blip r:embed="rId2"/>
          <a:stretch>
            <a:fillRect/>
          </a:stretch>
        </p:blipFill>
        <p:spPr>
          <a:xfrm>
            <a:off x="4629150" y="2705100"/>
            <a:ext cx="254000" cy="254000"/>
          </a:xfrm>
          <a:prstGeom prst="rect">
            <a:avLst/>
          </a:prstGeom>
        </p:spPr>
      </p:pic>
      <p:sp>
        <p:nvSpPr>
          <p:cNvPr id="10" name="Text 6"/>
          <p:cNvSpPr txBox="1"/>
          <p:nvPr/>
        </p:nvSpPr>
        <p:spPr>
          <a:xfrm>
            <a:off x="4984750" y="2692400"/>
            <a:ext cx="26670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Rooms sold twice</a:t>
            </a:r>
            <a:endParaRPr lang="en-US" sz="1600" dirty="0"/>
          </a:p>
        </p:txBody>
      </p:sp>
      <p:sp>
        <p:nvSpPr>
          <p:cNvPr id="11" name="Text 7"/>
          <p:cNvSpPr txBox="1"/>
          <p:nvPr/>
        </p:nvSpPr>
        <p:spPr>
          <a:xfrm>
            <a:off x="4629150" y="3073400"/>
            <a:ext cx="2927350" cy="825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With no real-time availability check, the same room can be booked twice.</a:t>
            </a:r>
            <a:endParaRPr lang="en-US" sz="1300" dirty="0"/>
          </a:p>
        </p:txBody>
      </p:sp>
      <p:sp>
        <p:nvSpPr>
          <p:cNvPr id="12" name="Shape 8"/>
          <p:cNvSpPr/>
          <p:nvPr/>
        </p:nvSpPr>
        <p:spPr>
          <a:xfrm>
            <a:off x="7988300" y="2476500"/>
            <a:ext cx="3384550" cy="1587500"/>
          </a:xfrm>
          <a:prstGeom prst="roundRect">
            <a:avLst>
              <a:gd name="adj" fmla="val 4608"/>
            </a:avLst>
          </a:prstGeom>
          <a:solidFill>
            <a:srgbClr val="FFFDF9"/>
          </a:solidFill>
          <a:ln/>
        </p:spPr>
      </p:sp>
      <p:pic>
        <p:nvPicPr>
          <p:cNvPr id="13" name="Image 2" descr="preencoded.png">    </p:cNvPr>
          <p:cNvPicPr>
            <a:picLocks noChangeAspect="1"/>
          </p:cNvPicPr>
          <p:nvPr/>
        </p:nvPicPr>
        <p:blipFill>
          <a:blip r:embed="rId3"/>
          <a:stretch>
            <a:fillRect/>
          </a:stretch>
        </p:blipFill>
        <p:spPr>
          <a:xfrm>
            <a:off x="8216900" y="2705100"/>
            <a:ext cx="254000" cy="254000"/>
          </a:xfrm>
          <a:prstGeom prst="rect">
            <a:avLst/>
          </a:prstGeom>
        </p:spPr>
      </p:pic>
      <p:sp>
        <p:nvSpPr>
          <p:cNvPr id="14" name="Text 9"/>
          <p:cNvSpPr txBox="1"/>
          <p:nvPr/>
        </p:nvSpPr>
        <p:spPr>
          <a:xfrm>
            <a:off x="8572500" y="2692400"/>
            <a:ext cx="26670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No shared tool</a:t>
            </a:r>
            <a:endParaRPr lang="en-US" sz="1600" dirty="0"/>
          </a:p>
        </p:txBody>
      </p:sp>
      <p:sp>
        <p:nvSpPr>
          <p:cNvPr id="15" name="Text 10"/>
          <p:cNvSpPr txBox="1"/>
          <p:nvPr/>
        </p:nvSpPr>
        <p:spPr>
          <a:xfrm>
            <a:off x="8216900" y="3073400"/>
            <a:ext cx="2927350" cy="825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Staff have no single place to manage rooms and bookings together.</a:t>
            </a:r>
            <a:endParaRPr lang="en-US" sz="1300" dirty="0"/>
          </a:p>
        </p:txBody>
      </p:sp>
      <p:sp>
        <p:nvSpPr>
          <p:cNvPr id="16" name="Shape 11"/>
          <p:cNvSpPr/>
          <p:nvPr/>
        </p:nvSpPr>
        <p:spPr>
          <a:xfrm>
            <a:off x="812800" y="4267200"/>
            <a:ext cx="3384550" cy="1587500"/>
          </a:xfrm>
          <a:prstGeom prst="roundRect">
            <a:avLst>
              <a:gd name="adj" fmla="val 4608"/>
            </a:avLst>
          </a:prstGeom>
          <a:solidFill>
            <a:srgbClr val="FFFDF9"/>
          </a:solidFill>
          <a:ln/>
        </p:spPr>
      </p:sp>
      <p:pic>
        <p:nvPicPr>
          <p:cNvPr id="17" name="Image 3" descr="preencoded.png">    </p:cNvPr>
          <p:cNvPicPr>
            <a:picLocks noChangeAspect="1"/>
          </p:cNvPicPr>
          <p:nvPr/>
        </p:nvPicPr>
        <p:blipFill>
          <a:blip r:embed="rId4"/>
          <a:stretch>
            <a:fillRect/>
          </a:stretch>
        </p:blipFill>
        <p:spPr>
          <a:xfrm>
            <a:off x="1041400" y="4495800"/>
            <a:ext cx="254000" cy="254000"/>
          </a:xfrm>
          <a:prstGeom prst="rect">
            <a:avLst/>
          </a:prstGeom>
        </p:spPr>
      </p:pic>
      <p:sp>
        <p:nvSpPr>
          <p:cNvPr id="18" name="Text 12"/>
          <p:cNvSpPr txBox="1"/>
          <p:nvPr/>
        </p:nvSpPr>
        <p:spPr>
          <a:xfrm>
            <a:off x="1397000" y="4483100"/>
            <a:ext cx="26670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No live numbers</a:t>
            </a:r>
            <a:endParaRPr lang="en-US" sz="1600" dirty="0"/>
          </a:p>
        </p:txBody>
      </p:sp>
      <p:sp>
        <p:nvSpPr>
          <p:cNvPr id="19" name="Text 13"/>
          <p:cNvSpPr txBox="1"/>
          <p:nvPr/>
        </p:nvSpPr>
        <p:spPr>
          <a:xfrm>
            <a:off x="1041400" y="4864100"/>
            <a:ext cx="2927350" cy="825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The owner can't see bookings and revenue as they happen.</a:t>
            </a:r>
            <a:endParaRPr lang="en-US" sz="1300" dirty="0"/>
          </a:p>
        </p:txBody>
      </p:sp>
      <p:sp>
        <p:nvSpPr>
          <p:cNvPr id="20" name="Shape 14"/>
          <p:cNvSpPr/>
          <p:nvPr/>
        </p:nvSpPr>
        <p:spPr>
          <a:xfrm>
            <a:off x="4400550" y="4267200"/>
            <a:ext cx="3384550" cy="1587500"/>
          </a:xfrm>
          <a:prstGeom prst="roundRect">
            <a:avLst>
              <a:gd name="adj" fmla="val 4608"/>
            </a:avLst>
          </a:prstGeom>
          <a:solidFill>
            <a:srgbClr val="FFFDF9"/>
          </a:solidFill>
          <a:ln/>
        </p:spPr>
      </p:sp>
      <p:pic>
        <p:nvPicPr>
          <p:cNvPr id="21" name="Image 4" descr="preencoded.png">    </p:cNvPr>
          <p:cNvPicPr>
            <a:picLocks noChangeAspect="1"/>
          </p:cNvPicPr>
          <p:nvPr/>
        </p:nvPicPr>
        <p:blipFill>
          <a:blip r:embed="rId5"/>
          <a:stretch>
            <a:fillRect/>
          </a:stretch>
        </p:blipFill>
        <p:spPr>
          <a:xfrm>
            <a:off x="4629150" y="4495800"/>
            <a:ext cx="254000" cy="254000"/>
          </a:xfrm>
          <a:prstGeom prst="rect">
            <a:avLst/>
          </a:prstGeom>
        </p:spPr>
      </p:pic>
      <p:sp>
        <p:nvSpPr>
          <p:cNvPr id="22" name="Text 15"/>
          <p:cNvSpPr txBox="1"/>
          <p:nvPr/>
        </p:nvSpPr>
        <p:spPr>
          <a:xfrm>
            <a:off x="4984750" y="4483100"/>
            <a:ext cx="26670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Guests left guessing</a:t>
            </a:r>
            <a:endParaRPr lang="en-US" sz="1600" dirty="0"/>
          </a:p>
        </p:txBody>
      </p:sp>
      <p:sp>
        <p:nvSpPr>
          <p:cNvPr id="23" name="Text 16"/>
          <p:cNvSpPr txBox="1"/>
          <p:nvPr/>
        </p:nvSpPr>
        <p:spPr>
          <a:xfrm>
            <a:off x="4629150" y="4864100"/>
            <a:ext cx="2927350" cy="825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Customers can't check the status of their own booking.</a:t>
            </a:r>
            <a:endParaRPr lang="en-US" sz="1300" dirty="0"/>
          </a:p>
        </p:txBody>
      </p:sp>
      <p:sp>
        <p:nvSpPr>
          <p:cNvPr id="24" name="Shape 17"/>
          <p:cNvSpPr/>
          <p:nvPr/>
        </p:nvSpPr>
        <p:spPr>
          <a:xfrm>
            <a:off x="7988300" y="4267200"/>
            <a:ext cx="3384550" cy="1587500"/>
          </a:xfrm>
          <a:prstGeom prst="roundRect">
            <a:avLst>
              <a:gd name="adj" fmla="val 4608"/>
            </a:avLst>
          </a:prstGeom>
          <a:solidFill>
            <a:srgbClr val="FFFDF9"/>
          </a:solidFill>
          <a:ln/>
        </p:spPr>
      </p:sp>
      <p:pic>
        <p:nvPicPr>
          <p:cNvPr id="25" name="Image 5" descr="preencoded.png">    </p:cNvPr>
          <p:cNvPicPr>
            <a:picLocks noChangeAspect="1"/>
          </p:cNvPicPr>
          <p:nvPr/>
        </p:nvPicPr>
        <p:blipFill>
          <a:blip r:embed="rId6"/>
          <a:stretch>
            <a:fillRect/>
          </a:stretch>
        </p:blipFill>
        <p:spPr>
          <a:xfrm>
            <a:off x="8216900" y="4495800"/>
            <a:ext cx="254000" cy="254000"/>
          </a:xfrm>
          <a:prstGeom prst="rect">
            <a:avLst/>
          </a:prstGeom>
        </p:spPr>
      </p:pic>
      <p:sp>
        <p:nvSpPr>
          <p:cNvPr id="26" name="Text 18"/>
          <p:cNvSpPr txBox="1"/>
          <p:nvPr/>
        </p:nvSpPr>
        <p:spPr>
          <a:xfrm>
            <a:off x="8572500" y="4483100"/>
            <a:ext cx="26670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Costly commissions</a:t>
            </a:r>
            <a:endParaRPr lang="en-US" sz="1600" dirty="0"/>
          </a:p>
        </p:txBody>
      </p:sp>
      <p:sp>
        <p:nvSpPr>
          <p:cNvPr id="27" name="Text 19"/>
          <p:cNvSpPr txBox="1"/>
          <p:nvPr/>
        </p:nvSpPr>
        <p:spPr>
          <a:xfrm>
            <a:off x="8216900" y="4864100"/>
            <a:ext cx="2927350" cy="825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Leaning on online travel agencies (OTAs) means paying high commission.</a:t>
            </a:r>
            <a:endParaRPr lang="en-US" sz="1300" dirty="0"/>
          </a:p>
        </p:txBody>
      </p:sp>
      <p:sp>
        <p:nvSpPr>
          <p:cNvPr id="28" name="Text 20"/>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29" name="Text 21"/>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A8451C"/>
                </a:solidFill>
                <a:latin typeface="Nunito Sans" pitchFamily="34" charset="0"/>
                <a:ea typeface="Nunito Sans" pitchFamily="34" charset="-122"/>
                <a:cs typeface="Nunito Sans" pitchFamily="34" charset="-120"/>
              </a:rPr>
              <a:t>OUR SOLUTION</a:t>
            </a:r>
            <a:endParaRPr lang="en-US" sz="13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One app, two sides, open 24/7</a:t>
            </a:r>
            <a:endParaRPr lang="en-US" sz="3600" dirty="0"/>
          </a:p>
        </p:txBody>
      </p:sp>
      <p:sp>
        <p:nvSpPr>
          <p:cNvPr id="4" name="Shape 2"/>
          <p:cNvSpPr/>
          <p:nvPr/>
        </p:nvSpPr>
        <p:spPr>
          <a:xfrm>
            <a:off x="812800" y="1949450"/>
            <a:ext cx="5130800" cy="3892550"/>
          </a:xfrm>
          <a:prstGeom prst="roundRect">
            <a:avLst>
              <a:gd name="adj" fmla="val 1073"/>
            </a:avLst>
          </a:prstGeom>
          <a:solidFill>
            <a:srgbClr val="2E6B3A"/>
          </a:solidFill>
          <a:ln/>
        </p:spPr>
      </p:sp>
      <p:pic>
        <p:nvPicPr>
          <p:cNvPr id="5" name="Image 0" descr="preencoded.png">    </p:cNvPr>
          <p:cNvPicPr>
            <a:picLocks noChangeAspect="1"/>
          </p:cNvPicPr>
          <p:nvPr/>
        </p:nvPicPr>
        <p:blipFill>
          <a:blip r:embed="rId1"/>
          <a:stretch>
            <a:fillRect/>
          </a:stretch>
        </p:blipFill>
        <p:spPr>
          <a:xfrm>
            <a:off x="1117600" y="2254250"/>
            <a:ext cx="355600" cy="355600"/>
          </a:xfrm>
          <a:prstGeom prst="rect">
            <a:avLst/>
          </a:prstGeom>
        </p:spPr>
      </p:pic>
      <p:sp>
        <p:nvSpPr>
          <p:cNvPr id="6" name="Text 3"/>
          <p:cNvSpPr txBox="1"/>
          <p:nvPr/>
        </p:nvSpPr>
        <p:spPr>
          <a:xfrm>
            <a:off x="1600200" y="2254250"/>
            <a:ext cx="4064000" cy="381000"/>
          </a:xfrm>
          <a:prstGeom prst="rect">
            <a:avLst/>
          </a:prstGeom>
          <a:noFill/>
          <a:ln/>
        </p:spPr>
        <p:txBody>
          <a:bodyPr wrap="square" lIns="0" tIns="0" rIns="0" bIns="0" rtlCol="0" anchor="ctr"/>
          <a:lstStyle/>
          <a:p>
            <a:pPr algn="l" indent="0" marL="0">
              <a:lnSpc>
                <a:spcPct val="120000"/>
              </a:lnSpc>
              <a:buNone/>
            </a:pPr>
            <a:r>
              <a:rPr lang="en-US" sz="2200" b="1" dirty="0">
                <a:solidFill>
                  <a:srgbClr val="FAF6EF"/>
                </a:solidFill>
                <a:latin typeface="Fredoka" pitchFamily="34" charset="0"/>
                <a:ea typeface="Fredoka" pitchFamily="34" charset="-122"/>
                <a:cs typeface="Fredoka" pitchFamily="34" charset="-120"/>
              </a:rPr>
              <a:t>For guests</a:t>
            </a:r>
            <a:endParaRPr lang="en-US" sz="2200" dirty="0"/>
          </a:p>
        </p:txBody>
      </p:sp>
      <p:sp>
        <p:nvSpPr>
          <p:cNvPr id="7" name="Text 4"/>
          <p:cNvSpPr txBox="1"/>
          <p:nvPr/>
        </p:nvSpPr>
        <p:spPr>
          <a:xfrm>
            <a:off x="1117600" y="2813050"/>
            <a:ext cx="4521200" cy="279400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600" dirty="0">
                <a:solidFill>
                  <a:srgbClr val="F3F7F2"/>
                </a:solidFill>
                <a:latin typeface="Nunito Sans" pitchFamily="34" charset="0"/>
                <a:ea typeface="Nunito Sans" pitchFamily="34" charset="-122"/>
                <a:cs typeface="Nunito Sans" pitchFamily="34" charset="-120"/>
              </a:rPr>
              <a:t>Search rooms that are free on your dates</a:t>
            </a:r>
            <a:endParaRPr lang="en-US" sz="1600" dirty="0"/>
          </a:p>
          <a:p>
            <a:pPr marL="342900" indent="-342900">
              <a:lnSpc>
                <a:spcPct val="120000"/>
              </a:lnSpc>
              <a:spcAft>
                <a:spcPts val="1000"/>
              </a:spcAft>
              <a:buSzPct val="100000"/>
              <a:buChar char="•"/>
            </a:pPr>
            <a:r>
              <a:rPr lang="en-US" sz="1600" dirty="0">
                <a:solidFill>
                  <a:srgbClr val="F3F7F2"/>
                </a:solidFill>
                <a:latin typeface="Nunito Sans" pitchFamily="34" charset="0"/>
                <a:ea typeface="Nunito Sans" pitchFamily="34" charset="-122"/>
                <a:cs typeface="Nunito Sans" pitchFamily="34" charset="-120"/>
              </a:rPr>
              <a:t>Book and pay by PromptPay QR</a:t>
            </a:r>
            <a:endParaRPr lang="en-US" sz="1600" dirty="0"/>
          </a:p>
          <a:p>
            <a:pPr marL="342900" indent="-342900">
              <a:lnSpc>
                <a:spcPct val="120000"/>
              </a:lnSpc>
              <a:spcAft>
                <a:spcPts val="1000"/>
              </a:spcAft>
              <a:buSzPct val="100000"/>
              <a:buChar char="•"/>
            </a:pPr>
            <a:r>
              <a:rPr lang="en-US" sz="1600" dirty="0">
                <a:solidFill>
                  <a:srgbClr val="F3F7F2"/>
                </a:solidFill>
                <a:latin typeface="Nunito Sans" pitchFamily="34" charset="0"/>
                <a:ea typeface="Nunito Sans" pitchFamily="34" charset="-122"/>
                <a:cs typeface="Nunito Sans" pitchFamily="34" charset="-120"/>
              </a:rPr>
              <a:t>Track every booking in one place</a:t>
            </a:r>
            <a:endParaRPr lang="en-US" sz="1600" dirty="0"/>
          </a:p>
          <a:p>
            <a:pPr marL="342900" indent="-342900">
              <a:lnSpc>
                <a:spcPct val="120000"/>
              </a:lnSpc>
              <a:spcAft>
                <a:spcPts val="1000"/>
              </a:spcAft>
              <a:buSzPct val="100000"/>
              <a:buChar char="•"/>
            </a:pPr>
            <a:r>
              <a:rPr lang="en-US" sz="1600" dirty="0">
                <a:solidFill>
                  <a:srgbClr val="F3F7F2"/>
                </a:solidFill>
                <a:latin typeface="Nunito Sans" pitchFamily="34" charset="0"/>
                <a:ea typeface="Nunito Sans" pitchFamily="34" charset="-122"/>
                <a:cs typeface="Nunito Sans" pitchFamily="34" charset="-120"/>
              </a:rPr>
              <a:t>Get an automatic confirmation email</a:t>
            </a:r>
            <a:endParaRPr lang="en-US" sz="1600" dirty="0"/>
          </a:p>
          <a:p>
            <a:pPr marL="342900" indent="-342900">
              <a:lnSpc>
                <a:spcPct val="120000"/>
              </a:lnSpc>
              <a:spcAft>
                <a:spcPts val="1000"/>
              </a:spcAft>
              <a:buSzPct val="100000"/>
              <a:buChar char="•"/>
            </a:pPr>
            <a:r>
              <a:rPr lang="en-US" sz="1600" dirty="0">
                <a:solidFill>
                  <a:srgbClr val="F3F7F2"/>
                </a:solidFill>
                <a:latin typeface="Nunito Sans" pitchFamily="34" charset="0"/>
                <a:ea typeface="Nunito Sans" pitchFamily="34" charset="-122"/>
                <a:cs typeface="Nunito Sans" pitchFamily="34" charset="-120"/>
              </a:rPr>
              <a:t>Find the resort and places to eat nearby</a:t>
            </a:r>
            <a:endParaRPr lang="en-US" sz="1600" dirty="0"/>
          </a:p>
        </p:txBody>
      </p:sp>
      <p:sp>
        <p:nvSpPr>
          <p:cNvPr id="8" name="Shape 5"/>
          <p:cNvSpPr/>
          <p:nvPr/>
        </p:nvSpPr>
        <p:spPr>
          <a:xfrm>
            <a:off x="6248400" y="1949450"/>
            <a:ext cx="5130800" cy="3892550"/>
          </a:xfrm>
          <a:prstGeom prst="roundRect">
            <a:avLst>
              <a:gd name="adj" fmla="val 1073"/>
            </a:avLst>
          </a:prstGeom>
          <a:solidFill>
            <a:srgbClr val="1F3347"/>
          </a:solidFill>
          <a:ln/>
        </p:spPr>
      </p:sp>
      <p:pic>
        <p:nvPicPr>
          <p:cNvPr id="9" name="Image 1" descr="preencoded.png">    </p:cNvPr>
          <p:cNvPicPr>
            <a:picLocks noChangeAspect="1"/>
          </p:cNvPicPr>
          <p:nvPr/>
        </p:nvPicPr>
        <p:blipFill>
          <a:blip r:embed="rId2"/>
          <a:stretch>
            <a:fillRect/>
          </a:stretch>
        </p:blipFill>
        <p:spPr>
          <a:xfrm>
            <a:off x="6553200" y="2254250"/>
            <a:ext cx="355600" cy="355600"/>
          </a:xfrm>
          <a:prstGeom prst="rect">
            <a:avLst/>
          </a:prstGeom>
        </p:spPr>
      </p:pic>
      <p:sp>
        <p:nvSpPr>
          <p:cNvPr id="10" name="Text 6"/>
          <p:cNvSpPr txBox="1"/>
          <p:nvPr/>
        </p:nvSpPr>
        <p:spPr>
          <a:xfrm>
            <a:off x="7035800" y="2254250"/>
            <a:ext cx="4064000" cy="381000"/>
          </a:xfrm>
          <a:prstGeom prst="rect">
            <a:avLst/>
          </a:prstGeom>
          <a:noFill/>
          <a:ln/>
        </p:spPr>
        <p:txBody>
          <a:bodyPr wrap="square" lIns="0" tIns="0" rIns="0" bIns="0" rtlCol="0" anchor="ctr"/>
          <a:lstStyle/>
          <a:p>
            <a:pPr algn="l" indent="0" marL="0">
              <a:lnSpc>
                <a:spcPct val="120000"/>
              </a:lnSpc>
              <a:buNone/>
            </a:pPr>
            <a:r>
              <a:rPr lang="en-US" sz="2200" b="1" dirty="0">
                <a:solidFill>
                  <a:srgbClr val="FAF6EF"/>
                </a:solidFill>
                <a:latin typeface="Fredoka" pitchFamily="34" charset="0"/>
                <a:ea typeface="Fredoka" pitchFamily="34" charset="-122"/>
                <a:cs typeface="Fredoka" pitchFamily="34" charset="-120"/>
              </a:rPr>
              <a:t>For the resort team</a:t>
            </a:r>
            <a:endParaRPr lang="en-US" sz="2200" dirty="0"/>
          </a:p>
        </p:txBody>
      </p:sp>
      <p:sp>
        <p:nvSpPr>
          <p:cNvPr id="11" name="Text 7"/>
          <p:cNvSpPr txBox="1"/>
          <p:nvPr/>
        </p:nvSpPr>
        <p:spPr>
          <a:xfrm>
            <a:off x="6553200" y="2813050"/>
            <a:ext cx="4521200" cy="279400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600" dirty="0">
                <a:solidFill>
                  <a:srgbClr val="E3E9EE"/>
                </a:solidFill>
                <a:latin typeface="Nunito Sans" pitchFamily="34" charset="0"/>
                <a:ea typeface="Nunito Sans" pitchFamily="34" charset="-122"/>
                <a:cs typeface="Nunito Sans" pitchFamily="34" charset="-120"/>
              </a:rPr>
              <a:t>Approve bookings and verify payment slips</a:t>
            </a:r>
            <a:endParaRPr lang="en-US" sz="1600" dirty="0"/>
          </a:p>
          <a:p>
            <a:pPr marL="342900" indent="-342900">
              <a:lnSpc>
                <a:spcPct val="120000"/>
              </a:lnSpc>
              <a:spcAft>
                <a:spcPts val="1000"/>
              </a:spcAft>
              <a:buSzPct val="100000"/>
              <a:buChar char="•"/>
            </a:pPr>
            <a:r>
              <a:rPr lang="en-US" sz="1600" dirty="0">
                <a:solidFill>
                  <a:srgbClr val="E3E9EE"/>
                </a:solidFill>
                <a:latin typeface="Nunito Sans" pitchFamily="34" charset="0"/>
                <a:ea typeface="Nunito Sans" pitchFamily="34" charset="-122"/>
                <a:cs typeface="Nunito Sans" pitchFamily="34" charset="-120"/>
              </a:rPr>
              <a:t>See every room on one calendar</a:t>
            </a:r>
            <a:endParaRPr lang="en-US" sz="1600" dirty="0"/>
          </a:p>
          <a:p>
            <a:pPr marL="342900" indent="-342900">
              <a:lnSpc>
                <a:spcPct val="120000"/>
              </a:lnSpc>
              <a:spcAft>
                <a:spcPts val="1000"/>
              </a:spcAft>
              <a:buSzPct val="100000"/>
              <a:buChar char="•"/>
            </a:pPr>
            <a:r>
              <a:rPr lang="en-US" sz="1600" dirty="0">
                <a:solidFill>
                  <a:srgbClr val="E3E9EE"/>
                </a:solidFill>
                <a:latin typeface="Nunito Sans" pitchFamily="34" charset="0"/>
                <a:ea typeface="Nunito Sans" pitchFamily="34" charset="-122"/>
                <a:cs typeface="Nunito Sans" pitchFamily="34" charset="-120"/>
              </a:rPr>
              <a:t>Add rooms, change prices, flag maintenance</a:t>
            </a:r>
            <a:endParaRPr lang="en-US" sz="1600" dirty="0"/>
          </a:p>
          <a:p>
            <a:pPr marL="342900" indent="-342900">
              <a:lnSpc>
                <a:spcPct val="120000"/>
              </a:lnSpc>
              <a:spcAft>
                <a:spcPts val="1000"/>
              </a:spcAft>
              <a:buSzPct val="100000"/>
              <a:buChar char="•"/>
            </a:pPr>
            <a:r>
              <a:rPr lang="en-US" sz="1600" dirty="0">
                <a:solidFill>
                  <a:srgbClr val="E3E9EE"/>
                </a:solidFill>
                <a:latin typeface="Nunito Sans" pitchFamily="34" charset="0"/>
                <a:ea typeface="Nunito Sans" pitchFamily="34" charset="-122"/>
                <a:cs typeface="Nunito Sans" pitchFamily="34" charset="-120"/>
              </a:rPr>
              <a:t>Check guests in and out</a:t>
            </a:r>
            <a:endParaRPr lang="en-US" sz="1600" dirty="0"/>
          </a:p>
          <a:p>
            <a:pPr marL="342900" indent="-342900">
              <a:lnSpc>
                <a:spcPct val="120000"/>
              </a:lnSpc>
              <a:spcAft>
                <a:spcPts val="1000"/>
              </a:spcAft>
              <a:buSzPct val="100000"/>
              <a:buChar char="•"/>
            </a:pPr>
            <a:r>
              <a:rPr lang="en-US" sz="1600" dirty="0">
                <a:solidFill>
                  <a:srgbClr val="E3E9EE"/>
                </a:solidFill>
                <a:latin typeface="Nunito Sans" pitchFamily="34" charset="0"/>
                <a:ea typeface="Nunito Sans" pitchFamily="34" charset="-122"/>
                <a:cs typeface="Nunito Sans" pitchFamily="34" charset="-120"/>
              </a:rPr>
              <a:t>Live dashboard, reports and staff accounts</a:t>
            </a:r>
            <a:endParaRPr lang="en-US" sz="1600" dirty="0"/>
          </a:p>
        </p:txBody>
      </p:sp>
      <p:sp>
        <p:nvSpPr>
          <p:cNvPr id="12" name="Text 8"/>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13" name="Text 9"/>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8DA"/>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96401A"/>
                </a:solidFill>
                <a:latin typeface="Nunito Sans" pitchFamily="34" charset="0"/>
                <a:ea typeface="Nunito Sans" pitchFamily="34" charset="-122"/>
                <a:cs typeface="Nunito Sans" pitchFamily="34" charset="-120"/>
              </a:rPr>
              <a:t>HOW BOOKING WORKS</a:t>
            </a:r>
            <a:endParaRPr lang="en-US" sz="13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A stay booked in six simple steps</a:t>
            </a:r>
            <a:endParaRPr lang="en-US" sz="3600" dirty="0"/>
          </a:p>
        </p:txBody>
      </p:sp>
      <p:sp>
        <p:nvSpPr>
          <p:cNvPr id="4" name="Shape 2"/>
          <p:cNvSpPr/>
          <p:nvPr/>
        </p:nvSpPr>
        <p:spPr>
          <a:xfrm>
            <a:off x="1092200" y="3060700"/>
            <a:ext cx="8801100" cy="25400"/>
          </a:xfrm>
          <a:prstGeom prst="rect">
            <a:avLst/>
          </a:prstGeom>
          <a:solidFill>
            <a:srgbClr val="D8B99F"/>
          </a:solidFill>
          <a:ln/>
        </p:spPr>
      </p:sp>
      <p:sp>
        <p:nvSpPr>
          <p:cNvPr id="5" name="Shape 3"/>
          <p:cNvSpPr/>
          <p:nvPr/>
        </p:nvSpPr>
        <p:spPr>
          <a:xfrm>
            <a:off x="812800" y="2794000"/>
            <a:ext cx="558800" cy="558800"/>
          </a:xfrm>
          <a:prstGeom prst="ellipse">
            <a:avLst/>
          </a:prstGeom>
          <a:solidFill>
            <a:srgbClr val="A8451C"/>
          </a:solidFill>
          <a:ln/>
        </p:spPr>
      </p:sp>
      <p:sp>
        <p:nvSpPr>
          <p:cNvPr id="6" name="Text 4"/>
          <p:cNvSpPr txBox="1"/>
          <p:nvPr/>
        </p:nvSpPr>
        <p:spPr>
          <a:xfrm>
            <a:off x="812800" y="2794000"/>
            <a:ext cx="558800" cy="558800"/>
          </a:xfrm>
          <a:prstGeom prst="rect">
            <a:avLst/>
          </a:prstGeom>
          <a:noFill/>
          <a:ln/>
        </p:spPr>
        <p:txBody>
          <a:bodyPr wrap="square" lIns="0" tIns="0" rIns="0" bIns="0" rtlCol="0" anchor="ctr"/>
          <a:lstStyle/>
          <a:p>
            <a:pPr algn="ctr" indent="0" marL="0">
              <a:lnSpc>
                <a:spcPct val="120000"/>
              </a:lnSpc>
              <a:buNone/>
            </a:pPr>
            <a:r>
              <a:rPr lang="en-US" sz="2200" b="1" dirty="0">
                <a:solidFill>
                  <a:srgbClr val="FAF6EF"/>
                </a:solidFill>
                <a:latin typeface="Fredoka" pitchFamily="34" charset="0"/>
                <a:ea typeface="Fredoka" pitchFamily="34" charset="-122"/>
                <a:cs typeface="Fredoka" pitchFamily="34" charset="-120"/>
              </a:rPr>
              <a:t>1</a:t>
            </a:r>
            <a:endParaRPr lang="en-US" sz="2200" dirty="0"/>
          </a:p>
        </p:txBody>
      </p:sp>
      <p:sp>
        <p:nvSpPr>
          <p:cNvPr id="7" name="Text 5"/>
          <p:cNvSpPr txBox="1"/>
          <p:nvPr/>
        </p:nvSpPr>
        <p:spPr>
          <a:xfrm>
            <a:off x="812800" y="3530600"/>
            <a:ext cx="1651000" cy="279400"/>
          </a:xfrm>
          <a:prstGeom prst="rect">
            <a:avLst/>
          </a:prstGeom>
          <a:noFill/>
          <a:ln/>
        </p:spPr>
        <p:txBody>
          <a:bodyPr wrap="square" lIns="0" tIns="0" rIns="0" bIns="0" rtlCol="0" anchor="t"/>
          <a:lstStyle/>
          <a:p>
            <a:pPr algn="l" indent="0" marL="0">
              <a:lnSpc>
                <a:spcPct val="120000"/>
              </a:lnSpc>
              <a:buNone/>
            </a:pPr>
            <a:r>
              <a:rPr lang="en-US" sz="1500" b="1" dirty="0">
                <a:solidFill>
                  <a:srgbClr val="1F3347"/>
                </a:solidFill>
                <a:latin typeface="Nunito Sans" pitchFamily="34" charset="0"/>
                <a:ea typeface="Nunito Sans" pitchFamily="34" charset="-122"/>
                <a:cs typeface="Nunito Sans" pitchFamily="34" charset="-120"/>
              </a:rPr>
              <a:t>Choose dates</a:t>
            </a:r>
            <a:endParaRPr lang="en-US" sz="1500" dirty="0"/>
          </a:p>
        </p:txBody>
      </p:sp>
      <p:sp>
        <p:nvSpPr>
          <p:cNvPr id="8" name="Text 6"/>
          <p:cNvSpPr txBox="1"/>
          <p:nvPr/>
        </p:nvSpPr>
        <p:spPr>
          <a:xfrm>
            <a:off x="812800" y="3848100"/>
            <a:ext cx="1587500" cy="952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Booked rooms vanish; only free ones show.</a:t>
            </a:r>
            <a:endParaRPr lang="en-US" sz="1300" dirty="0"/>
          </a:p>
        </p:txBody>
      </p:sp>
      <p:sp>
        <p:nvSpPr>
          <p:cNvPr id="9" name="Shape 7"/>
          <p:cNvSpPr/>
          <p:nvPr/>
        </p:nvSpPr>
        <p:spPr>
          <a:xfrm>
            <a:off x="2571750" y="2794000"/>
            <a:ext cx="558800" cy="558800"/>
          </a:xfrm>
          <a:prstGeom prst="ellipse">
            <a:avLst/>
          </a:prstGeom>
          <a:solidFill>
            <a:srgbClr val="A8451C"/>
          </a:solidFill>
          <a:ln/>
        </p:spPr>
      </p:sp>
      <p:sp>
        <p:nvSpPr>
          <p:cNvPr id="10" name="Text 8"/>
          <p:cNvSpPr txBox="1"/>
          <p:nvPr/>
        </p:nvSpPr>
        <p:spPr>
          <a:xfrm>
            <a:off x="2571750" y="2794000"/>
            <a:ext cx="558800" cy="558800"/>
          </a:xfrm>
          <a:prstGeom prst="rect">
            <a:avLst/>
          </a:prstGeom>
          <a:noFill/>
          <a:ln/>
        </p:spPr>
        <p:txBody>
          <a:bodyPr wrap="square" lIns="0" tIns="0" rIns="0" bIns="0" rtlCol="0" anchor="ctr"/>
          <a:lstStyle/>
          <a:p>
            <a:pPr algn="ctr" indent="0" marL="0">
              <a:lnSpc>
                <a:spcPct val="120000"/>
              </a:lnSpc>
              <a:buNone/>
            </a:pPr>
            <a:r>
              <a:rPr lang="en-US" sz="2200" b="1" dirty="0">
                <a:solidFill>
                  <a:srgbClr val="FAF6EF"/>
                </a:solidFill>
                <a:latin typeface="Fredoka" pitchFamily="34" charset="0"/>
                <a:ea typeface="Fredoka" pitchFamily="34" charset="-122"/>
                <a:cs typeface="Fredoka" pitchFamily="34" charset="-120"/>
              </a:rPr>
              <a:t>2</a:t>
            </a:r>
            <a:endParaRPr lang="en-US" sz="2200" dirty="0"/>
          </a:p>
        </p:txBody>
      </p:sp>
      <p:sp>
        <p:nvSpPr>
          <p:cNvPr id="11" name="Text 9"/>
          <p:cNvSpPr txBox="1"/>
          <p:nvPr/>
        </p:nvSpPr>
        <p:spPr>
          <a:xfrm>
            <a:off x="2571750" y="3530600"/>
            <a:ext cx="1651000" cy="279400"/>
          </a:xfrm>
          <a:prstGeom prst="rect">
            <a:avLst/>
          </a:prstGeom>
          <a:noFill/>
          <a:ln/>
        </p:spPr>
        <p:txBody>
          <a:bodyPr wrap="square" lIns="0" tIns="0" rIns="0" bIns="0" rtlCol="0" anchor="t"/>
          <a:lstStyle/>
          <a:p>
            <a:pPr algn="l" indent="0" marL="0">
              <a:lnSpc>
                <a:spcPct val="120000"/>
              </a:lnSpc>
              <a:buNone/>
            </a:pPr>
            <a:r>
              <a:rPr lang="en-US" sz="1500" b="1" dirty="0">
                <a:solidFill>
                  <a:srgbClr val="1F3347"/>
                </a:solidFill>
                <a:latin typeface="Nunito Sans" pitchFamily="34" charset="0"/>
                <a:ea typeface="Nunito Sans" pitchFamily="34" charset="-122"/>
                <a:cs typeface="Nunito Sans" pitchFamily="34" charset="-120"/>
              </a:rPr>
              <a:t>Pick a room</a:t>
            </a:r>
            <a:endParaRPr lang="en-US" sz="1500" dirty="0"/>
          </a:p>
        </p:txBody>
      </p:sp>
      <p:sp>
        <p:nvSpPr>
          <p:cNvPr id="12" name="Text 10"/>
          <p:cNvSpPr txBox="1"/>
          <p:nvPr/>
        </p:nvSpPr>
        <p:spPr>
          <a:xfrm>
            <a:off x="2571750" y="3848100"/>
            <a:ext cx="1587500" cy="952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Photos, amenities, capacity and price.</a:t>
            </a:r>
            <a:endParaRPr lang="en-US" sz="1300" dirty="0"/>
          </a:p>
        </p:txBody>
      </p:sp>
      <p:sp>
        <p:nvSpPr>
          <p:cNvPr id="13" name="Shape 11"/>
          <p:cNvSpPr/>
          <p:nvPr/>
        </p:nvSpPr>
        <p:spPr>
          <a:xfrm>
            <a:off x="4330700" y="2794000"/>
            <a:ext cx="558800" cy="558800"/>
          </a:xfrm>
          <a:prstGeom prst="ellipse">
            <a:avLst/>
          </a:prstGeom>
          <a:solidFill>
            <a:srgbClr val="A8451C"/>
          </a:solidFill>
          <a:ln/>
        </p:spPr>
      </p:sp>
      <p:sp>
        <p:nvSpPr>
          <p:cNvPr id="14" name="Text 12"/>
          <p:cNvSpPr txBox="1"/>
          <p:nvPr/>
        </p:nvSpPr>
        <p:spPr>
          <a:xfrm>
            <a:off x="4330700" y="2794000"/>
            <a:ext cx="558800" cy="558800"/>
          </a:xfrm>
          <a:prstGeom prst="rect">
            <a:avLst/>
          </a:prstGeom>
          <a:noFill/>
          <a:ln/>
        </p:spPr>
        <p:txBody>
          <a:bodyPr wrap="square" lIns="0" tIns="0" rIns="0" bIns="0" rtlCol="0" anchor="ctr"/>
          <a:lstStyle/>
          <a:p>
            <a:pPr algn="ctr" indent="0" marL="0">
              <a:lnSpc>
                <a:spcPct val="120000"/>
              </a:lnSpc>
              <a:buNone/>
            </a:pPr>
            <a:r>
              <a:rPr lang="en-US" sz="2200" b="1" dirty="0">
                <a:solidFill>
                  <a:srgbClr val="FAF6EF"/>
                </a:solidFill>
                <a:latin typeface="Fredoka" pitchFamily="34" charset="0"/>
                <a:ea typeface="Fredoka" pitchFamily="34" charset="-122"/>
                <a:cs typeface="Fredoka" pitchFamily="34" charset="-120"/>
              </a:rPr>
              <a:t>3</a:t>
            </a:r>
            <a:endParaRPr lang="en-US" sz="2200" dirty="0"/>
          </a:p>
        </p:txBody>
      </p:sp>
      <p:sp>
        <p:nvSpPr>
          <p:cNvPr id="15" name="Text 13"/>
          <p:cNvSpPr txBox="1"/>
          <p:nvPr/>
        </p:nvSpPr>
        <p:spPr>
          <a:xfrm>
            <a:off x="4330700" y="3530600"/>
            <a:ext cx="1651000" cy="279400"/>
          </a:xfrm>
          <a:prstGeom prst="rect">
            <a:avLst/>
          </a:prstGeom>
          <a:noFill/>
          <a:ln/>
        </p:spPr>
        <p:txBody>
          <a:bodyPr wrap="square" lIns="0" tIns="0" rIns="0" bIns="0" rtlCol="0" anchor="t"/>
          <a:lstStyle/>
          <a:p>
            <a:pPr algn="l" indent="0" marL="0">
              <a:lnSpc>
                <a:spcPct val="120000"/>
              </a:lnSpc>
              <a:buNone/>
            </a:pPr>
            <a:r>
              <a:rPr lang="en-US" sz="1500" b="1" dirty="0">
                <a:solidFill>
                  <a:srgbClr val="1F3347"/>
                </a:solidFill>
                <a:latin typeface="Nunito Sans" pitchFamily="34" charset="0"/>
                <a:ea typeface="Nunito Sans" pitchFamily="34" charset="-122"/>
                <a:cs typeface="Nunito Sans" pitchFamily="34" charset="-120"/>
              </a:rPr>
              <a:t>Book it</a:t>
            </a:r>
            <a:endParaRPr lang="en-US" sz="1500" dirty="0"/>
          </a:p>
        </p:txBody>
      </p:sp>
      <p:sp>
        <p:nvSpPr>
          <p:cNvPr id="16" name="Text 14"/>
          <p:cNvSpPr txBox="1"/>
          <p:nvPr/>
        </p:nvSpPr>
        <p:spPr>
          <a:xfrm>
            <a:off x="4330700" y="3848100"/>
            <a:ext cx="1587500" cy="952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The room is held for you while you pay.</a:t>
            </a:r>
            <a:endParaRPr lang="en-US" sz="1300" dirty="0"/>
          </a:p>
        </p:txBody>
      </p:sp>
      <p:sp>
        <p:nvSpPr>
          <p:cNvPr id="17" name="Shape 15"/>
          <p:cNvSpPr/>
          <p:nvPr/>
        </p:nvSpPr>
        <p:spPr>
          <a:xfrm>
            <a:off x="6096000" y="2794000"/>
            <a:ext cx="558800" cy="558800"/>
          </a:xfrm>
          <a:prstGeom prst="ellipse">
            <a:avLst/>
          </a:prstGeom>
          <a:solidFill>
            <a:srgbClr val="A8451C"/>
          </a:solidFill>
          <a:ln/>
        </p:spPr>
      </p:sp>
      <p:sp>
        <p:nvSpPr>
          <p:cNvPr id="18" name="Text 16"/>
          <p:cNvSpPr txBox="1"/>
          <p:nvPr/>
        </p:nvSpPr>
        <p:spPr>
          <a:xfrm>
            <a:off x="6096000" y="2794000"/>
            <a:ext cx="558800" cy="558800"/>
          </a:xfrm>
          <a:prstGeom prst="rect">
            <a:avLst/>
          </a:prstGeom>
          <a:noFill/>
          <a:ln/>
        </p:spPr>
        <p:txBody>
          <a:bodyPr wrap="square" lIns="0" tIns="0" rIns="0" bIns="0" rtlCol="0" anchor="ctr"/>
          <a:lstStyle/>
          <a:p>
            <a:pPr algn="ctr" indent="0" marL="0">
              <a:lnSpc>
                <a:spcPct val="120000"/>
              </a:lnSpc>
              <a:buNone/>
            </a:pPr>
            <a:r>
              <a:rPr lang="en-US" sz="2200" b="1" dirty="0">
                <a:solidFill>
                  <a:srgbClr val="FAF6EF"/>
                </a:solidFill>
                <a:latin typeface="Fredoka" pitchFamily="34" charset="0"/>
                <a:ea typeface="Fredoka" pitchFamily="34" charset="-122"/>
                <a:cs typeface="Fredoka" pitchFamily="34" charset="-120"/>
              </a:rPr>
              <a:t>4</a:t>
            </a:r>
            <a:endParaRPr lang="en-US" sz="2200" dirty="0"/>
          </a:p>
        </p:txBody>
      </p:sp>
      <p:sp>
        <p:nvSpPr>
          <p:cNvPr id="19" name="Text 17"/>
          <p:cNvSpPr txBox="1"/>
          <p:nvPr/>
        </p:nvSpPr>
        <p:spPr>
          <a:xfrm>
            <a:off x="6096000" y="3530600"/>
            <a:ext cx="1651000" cy="279400"/>
          </a:xfrm>
          <a:prstGeom prst="rect">
            <a:avLst/>
          </a:prstGeom>
          <a:noFill/>
          <a:ln/>
        </p:spPr>
        <p:txBody>
          <a:bodyPr wrap="square" lIns="0" tIns="0" rIns="0" bIns="0" rtlCol="0" anchor="t"/>
          <a:lstStyle/>
          <a:p>
            <a:pPr algn="l" indent="0" marL="0">
              <a:lnSpc>
                <a:spcPct val="120000"/>
              </a:lnSpc>
              <a:buNone/>
            </a:pPr>
            <a:r>
              <a:rPr lang="en-US" sz="1500" b="1" dirty="0">
                <a:solidFill>
                  <a:srgbClr val="1F3347"/>
                </a:solidFill>
                <a:latin typeface="Nunito Sans" pitchFamily="34" charset="0"/>
                <a:ea typeface="Nunito Sans" pitchFamily="34" charset="-122"/>
                <a:cs typeface="Nunito Sans" pitchFamily="34" charset="-120"/>
              </a:rPr>
              <a:t>Scan &amp; pay</a:t>
            </a:r>
            <a:endParaRPr lang="en-US" sz="1500" dirty="0"/>
          </a:p>
        </p:txBody>
      </p:sp>
      <p:sp>
        <p:nvSpPr>
          <p:cNvPr id="20" name="Text 18"/>
          <p:cNvSpPr txBox="1"/>
          <p:nvPr/>
        </p:nvSpPr>
        <p:spPr>
          <a:xfrm>
            <a:off x="6096000" y="3848100"/>
            <a:ext cx="1587500" cy="952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PromptPay QR for the exact total, then upload the slip.</a:t>
            </a:r>
            <a:endParaRPr lang="en-US" sz="1300" dirty="0"/>
          </a:p>
        </p:txBody>
      </p:sp>
      <p:sp>
        <p:nvSpPr>
          <p:cNvPr id="21" name="Shape 19"/>
          <p:cNvSpPr/>
          <p:nvPr/>
        </p:nvSpPr>
        <p:spPr>
          <a:xfrm>
            <a:off x="7854950" y="2794000"/>
            <a:ext cx="558800" cy="558800"/>
          </a:xfrm>
          <a:prstGeom prst="ellipse">
            <a:avLst/>
          </a:prstGeom>
          <a:solidFill>
            <a:srgbClr val="A8451C"/>
          </a:solidFill>
          <a:ln/>
        </p:spPr>
      </p:sp>
      <p:sp>
        <p:nvSpPr>
          <p:cNvPr id="22" name="Text 20"/>
          <p:cNvSpPr txBox="1"/>
          <p:nvPr/>
        </p:nvSpPr>
        <p:spPr>
          <a:xfrm>
            <a:off x="7854950" y="2794000"/>
            <a:ext cx="558800" cy="558800"/>
          </a:xfrm>
          <a:prstGeom prst="rect">
            <a:avLst/>
          </a:prstGeom>
          <a:noFill/>
          <a:ln/>
        </p:spPr>
        <p:txBody>
          <a:bodyPr wrap="square" lIns="0" tIns="0" rIns="0" bIns="0" rtlCol="0" anchor="ctr"/>
          <a:lstStyle/>
          <a:p>
            <a:pPr algn="ctr" indent="0" marL="0">
              <a:lnSpc>
                <a:spcPct val="120000"/>
              </a:lnSpc>
              <a:buNone/>
            </a:pPr>
            <a:r>
              <a:rPr lang="en-US" sz="2200" b="1" dirty="0">
                <a:solidFill>
                  <a:srgbClr val="FAF6EF"/>
                </a:solidFill>
                <a:latin typeface="Fredoka" pitchFamily="34" charset="0"/>
                <a:ea typeface="Fredoka" pitchFamily="34" charset="-122"/>
                <a:cs typeface="Fredoka" pitchFamily="34" charset="-120"/>
              </a:rPr>
              <a:t>5</a:t>
            </a:r>
            <a:endParaRPr lang="en-US" sz="2200" dirty="0"/>
          </a:p>
        </p:txBody>
      </p:sp>
      <p:sp>
        <p:nvSpPr>
          <p:cNvPr id="23" name="Text 21"/>
          <p:cNvSpPr txBox="1"/>
          <p:nvPr/>
        </p:nvSpPr>
        <p:spPr>
          <a:xfrm>
            <a:off x="7854950" y="3530600"/>
            <a:ext cx="1651000" cy="279400"/>
          </a:xfrm>
          <a:prstGeom prst="rect">
            <a:avLst/>
          </a:prstGeom>
          <a:noFill/>
          <a:ln/>
        </p:spPr>
        <p:txBody>
          <a:bodyPr wrap="square" lIns="0" tIns="0" rIns="0" bIns="0" rtlCol="0" anchor="t"/>
          <a:lstStyle/>
          <a:p>
            <a:pPr algn="l" indent="0" marL="0">
              <a:lnSpc>
                <a:spcPct val="120000"/>
              </a:lnSpc>
              <a:buNone/>
            </a:pPr>
            <a:r>
              <a:rPr lang="en-US" sz="1500" b="1" dirty="0">
                <a:solidFill>
                  <a:srgbClr val="1F3347"/>
                </a:solidFill>
                <a:latin typeface="Nunito Sans" pitchFamily="34" charset="0"/>
                <a:ea typeface="Nunito Sans" pitchFamily="34" charset="-122"/>
                <a:cs typeface="Nunito Sans" pitchFamily="34" charset="-120"/>
              </a:rPr>
              <a:t>Staff confirm</a:t>
            </a:r>
            <a:endParaRPr lang="en-US" sz="1500" dirty="0"/>
          </a:p>
        </p:txBody>
      </p:sp>
      <p:sp>
        <p:nvSpPr>
          <p:cNvPr id="24" name="Text 22"/>
          <p:cNvSpPr txBox="1"/>
          <p:nvPr/>
        </p:nvSpPr>
        <p:spPr>
          <a:xfrm>
            <a:off x="7854950" y="3848100"/>
            <a:ext cx="1587500" cy="952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The resort checks the slip right in the app.</a:t>
            </a:r>
            <a:endParaRPr lang="en-US" sz="1300" dirty="0"/>
          </a:p>
        </p:txBody>
      </p:sp>
      <p:sp>
        <p:nvSpPr>
          <p:cNvPr id="25" name="Shape 23"/>
          <p:cNvSpPr/>
          <p:nvPr/>
        </p:nvSpPr>
        <p:spPr>
          <a:xfrm>
            <a:off x="9613900" y="2794000"/>
            <a:ext cx="558800" cy="558800"/>
          </a:xfrm>
          <a:prstGeom prst="ellipse">
            <a:avLst/>
          </a:prstGeom>
          <a:solidFill>
            <a:srgbClr val="2E6B3A"/>
          </a:solidFill>
          <a:ln/>
        </p:spPr>
      </p:sp>
      <p:sp>
        <p:nvSpPr>
          <p:cNvPr id="26" name="Text 24"/>
          <p:cNvSpPr txBox="1"/>
          <p:nvPr/>
        </p:nvSpPr>
        <p:spPr>
          <a:xfrm>
            <a:off x="9613900" y="2794000"/>
            <a:ext cx="558800" cy="558800"/>
          </a:xfrm>
          <a:prstGeom prst="rect">
            <a:avLst/>
          </a:prstGeom>
          <a:noFill/>
          <a:ln/>
        </p:spPr>
        <p:txBody>
          <a:bodyPr wrap="square" lIns="0" tIns="0" rIns="0" bIns="0" rtlCol="0" anchor="ctr"/>
          <a:lstStyle/>
          <a:p>
            <a:pPr algn="ctr" indent="0" marL="0">
              <a:lnSpc>
                <a:spcPct val="120000"/>
              </a:lnSpc>
              <a:buNone/>
            </a:pPr>
            <a:r>
              <a:rPr lang="en-US" sz="2200" b="1" dirty="0">
                <a:solidFill>
                  <a:srgbClr val="FAF6EF"/>
                </a:solidFill>
                <a:latin typeface="Fredoka" pitchFamily="34" charset="0"/>
                <a:ea typeface="Fredoka" pitchFamily="34" charset="-122"/>
                <a:cs typeface="Fredoka" pitchFamily="34" charset="-120"/>
              </a:rPr>
              <a:t>6</a:t>
            </a:r>
            <a:endParaRPr lang="en-US" sz="2200" dirty="0"/>
          </a:p>
        </p:txBody>
      </p:sp>
      <p:sp>
        <p:nvSpPr>
          <p:cNvPr id="27" name="Text 25"/>
          <p:cNvSpPr txBox="1"/>
          <p:nvPr/>
        </p:nvSpPr>
        <p:spPr>
          <a:xfrm>
            <a:off x="9613900" y="3530600"/>
            <a:ext cx="1651000" cy="279400"/>
          </a:xfrm>
          <a:prstGeom prst="rect">
            <a:avLst/>
          </a:prstGeom>
          <a:noFill/>
          <a:ln/>
        </p:spPr>
        <p:txBody>
          <a:bodyPr wrap="square" lIns="0" tIns="0" rIns="0" bIns="0" rtlCol="0" anchor="t"/>
          <a:lstStyle/>
          <a:p>
            <a:pPr algn="l" indent="0" marL="0">
              <a:lnSpc>
                <a:spcPct val="120000"/>
              </a:lnSpc>
              <a:buNone/>
            </a:pPr>
            <a:r>
              <a:rPr lang="en-US" sz="1500" b="1" dirty="0">
                <a:solidFill>
                  <a:srgbClr val="1F3347"/>
                </a:solidFill>
                <a:latin typeface="Nunito Sans" pitchFamily="34" charset="0"/>
                <a:ea typeface="Nunito Sans" pitchFamily="34" charset="-122"/>
                <a:cs typeface="Nunito Sans" pitchFamily="34" charset="-120"/>
              </a:rPr>
              <a:t>Email arrives</a:t>
            </a:r>
            <a:endParaRPr lang="en-US" sz="1500" dirty="0"/>
          </a:p>
        </p:txBody>
      </p:sp>
      <p:sp>
        <p:nvSpPr>
          <p:cNvPr id="28" name="Text 26"/>
          <p:cNvSpPr txBox="1"/>
          <p:nvPr/>
        </p:nvSpPr>
        <p:spPr>
          <a:xfrm>
            <a:off x="9613900" y="3848100"/>
            <a:ext cx="1587500" cy="952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Confirmation with dates, total and booking number.</a:t>
            </a:r>
            <a:endParaRPr lang="en-US" sz="1300" dirty="0"/>
          </a:p>
        </p:txBody>
      </p:sp>
      <p:sp>
        <p:nvSpPr>
          <p:cNvPr id="29" name="Shape 27"/>
          <p:cNvSpPr/>
          <p:nvPr/>
        </p:nvSpPr>
        <p:spPr>
          <a:xfrm>
            <a:off x="812800" y="5308600"/>
            <a:ext cx="8382000" cy="533400"/>
          </a:xfrm>
          <a:prstGeom prst="roundRect">
            <a:avLst>
              <a:gd name="adj" fmla="val 85714"/>
            </a:avLst>
          </a:prstGeom>
          <a:solidFill>
            <a:srgbClr val="FFFDF9"/>
          </a:solidFill>
          <a:ln/>
        </p:spPr>
      </p:sp>
      <p:sp>
        <p:nvSpPr>
          <p:cNvPr id="30" name="Text 28"/>
          <p:cNvSpPr txBox="1"/>
          <p:nvPr/>
        </p:nvSpPr>
        <p:spPr>
          <a:xfrm>
            <a:off x="1066800" y="5308600"/>
            <a:ext cx="8001000" cy="533400"/>
          </a:xfrm>
          <a:prstGeom prst="rect">
            <a:avLst/>
          </a:prstGeom>
          <a:noFill/>
          <a:ln/>
        </p:spPr>
        <p:txBody>
          <a:bodyPr wrap="square" lIns="0" tIns="0" rIns="0" bIns="0" rtlCol="0" anchor="ctr"/>
          <a:lstStyle/>
          <a:p>
            <a:pPr algn="l" indent="0" marL="0">
              <a:lnSpc>
                <a:spcPct val="120000"/>
              </a:lnSpc>
              <a:buNone/>
            </a:pPr>
            <a:r>
              <a:rPr lang="en-US" sz="1600" b="1" dirty="0">
                <a:solidFill>
                  <a:srgbClr val="2E6B3A"/>
                </a:solidFill>
                <a:latin typeface="Nunito Sans" pitchFamily="34" charset="0"/>
                <a:ea typeface="Nunito Sans" pitchFamily="34" charset="-122"/>
                <a:cs typeface="Nunito Sans" pitchFamily="34" charset="-120"/>
              </a:rPr>
              <a:t>No phone call needed — the whole booking happens in the app.</a:t>
            </a:r>
            <a:endParaRPr lang="en-US" sz="1600" dirty="0"/>
          </a:p>
        </p:txBody>
      </p:sp>
      <p:sp>
        <p:nvSpPr>
          <p:cNvPr id="31" name="Text 29"/>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32" name="Text 30"/>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812800" y="812800"/>
            <a:ext cx="4572000" cy="5029200"/>
          </a:xfrm>
          <a:prstGeom prst="roundRect">
            <a:avLst>
              <a:gd name="adj" fmla="val 778"/>
            </a:avLst>
          </a:prstGeom>
          <a:solidFill>
            <a:srgbClr val="F1E8DA"/>
          </a:solidFill>
          <a:ln/>
        </p:spPr>
      </p:sp>
      <p:pic>
        <p:nvPicPr>
          <p:cNvPr id="3" name="Image 0" descr="/tmp/claude-0/-home-claude/7d06284d-c71b-56e0-9fd5-4b6c44927ce3/scratchpad/pptx/img/search.png">    </p:cNvPr>
          <p:cNvPicPr>
            <a:picLocks noChangeAspect="1"/>
          </p:cNvPicPr>
          <p:nvPr/>
        </p:nvPicPr>
        <p:blipFill>
          <a:blip r:embed="rId1"/>
          <a:stretch>
            <a:fillRect/>
          </a:stretch>
        </p:blipFill>
        <p:spPr>
          <a:xfrm>
            <a:off x="2019300" y="1035050"/>
            <a:ext cx="2159000" cy="4584700"/>
          </a:xfrm>
          <a:prstGeom prst="rect">
            <a:avLst/>
          </a:prstGeom>
        </p:spPr>
      </p:pic>
      <p:sp>
        <p:nvSpPr>
          <p:cNvPr id="4" name="Text 1"/>
          <p:cNvSpPr txBox="1"/>
          <p:nvPr/>
        </p:nvSpPr>
        <p:spPr>
          <a:xfrm>
            <a:off x="5994400" y="812800"/>
            <a:ext cx="53848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A8451C"/>
                </a:solidFill>
                <a:latin typeface="Nunito Sans" pitchFamily="34" charset="0"/>
                <a:ea typeface="Nunito Sans" pitchFamily="34" charset="-122"/>
                <a:cs typeface="Nunito Sans" pitchFamily="34" charset="-120"/>
              </a:rPr>
              <a:t>FEATURE · FIND A ROOM</a:t>
            </a:r>
            <a:endParaRPr lang="en-US" sz="1300" dirty="0"/>
          </a:p>
        </p:txBody>
      </p:sp>
      <p:sp>
        <p:nvSpPr>
          <p:cNvPr id="5" name="Text 2"/>
          <p:cNvSpPr txBox="1"/>
          <p:nvPr/>
        </p:nvSpPr>
        <p:spPr>
          <a:xfrm>
            <a:off x="5994400" y="1143000"/>
            <a:ext cx="5384800" cy="10160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See only rooms that are really free</a:t>
            </a:r>
            <a:endParaRPr lang="en-US" sz="3600" dirty="0"/>
          </a:p>
        </p:txBody>
      </p:sp>
      <p:pic>
        <p:nvPicPr>
          <p:cNvPr id="6" name="Image 1" descr="preencoded.png">    </p:cNvPr>
          <p:cNvPicPr>
            <a:picLocks noChangeAspect="1"/>
          </p:cNvPicPr>
          <p:nvPr/>
        </p:nvPicPr>
        <p:blipFill>
          <a:blip r:embed="rId2"/>
          <a:stretch>
            <a:fillRect/>
          </a:stretch>
        </p:blipFill>
        <p:spPr>
          <a:xfrm>
            <a:off x="5994400" y="2400300"/>
            <a:ext cx="304800" cy="304800"/>
          </a:xfrm>
          <a:prstGeom prst="rect">
            <a:avLst/>
          </a:prstGeom>
        </p:spPr>
      </p:pic>
      <p:sp>
        <p:nvSpPr>
          <p:cNvPr id="7" name="Text 3"/>
          <p:cNvSpPr txBox="1"/>
          <p:nvPr/>
        </p:nvSpPr>
        <p:spPr>
          <a:xfrm>
            <a:off x="6451600" y="2400300"/>
            <a:ext cx="4927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Pick your dates</a:t>
            </a:r>
            <a:endParaRPr lang="en-US" sz="1600" dirty="0"/>
          </a:p>
        </p:txBody>
      </p:sp>
      <p:sp>
        <p:nvSpPr>
          <p:cNvPr id="8" name="Text 4"/>
          <p:cNvSpPr txBox="1"/>
          <p:nvPr/>
        </p:nvSpPr>
        <p:spPr>
          <a:xfrm>
            <a:off x="6451600" y="2692400"/>
            <a:ext cx="4927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Rooms already booked for those nights disappear instantly.</a:t>
            </a:r>
            <a:endParaRPr lang="en-US" sz="1300" dirty="0"/>
          </a:p>
        </p:txBody>
      </p:sp>
      <p:pic>
        <p:nvPicPr>
          <p:cNvPr id="9" name="Image 2" descr="preencoded.png">    </p:cNvPr>
          <p:cNvPicPr>
            <a:picLocks noChangeAspect="1"/>
          </p:cNvPicPr>
          <p:nvPr/>
        </p:nvPicPr>
        <p:blipFill>
          <a:blip r:embed="rId3"/>
          <a:stretch>
            <a:fillRect/>
          </a:stretch>
        </p:blipFill>
        <p:spPr>
          <a:xfrm>
            <a:off x="5994400" y="3282950"/>
            <a:ext cx="304800" cy="304800"/>
          </a:xfrm>
          <a:prstGeom prst="rect">
            <a:avLst/>
          </a:prstGeom>
        </p:spPr>
      </p:pic>
      <p:sp>
        <p:nvSpPr>
          <p:cNvPr id="10" name="Text 5"/>
          <p:cNvSpPr txBox="1"/>
          <p:nvPr/>
        </p:nvSpPr>
        <p:spPr>
          <a:xfrm>
            <a:off x="6451600" y="3282950"/>
            <a:ext cx="4927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Filter your way</a:t>
            </a:r>
            <a:endParaRPr lang="en-US" sz="1600" dirty="0"/>
          </a:p>
        </p:txBody>
      </p:sp>
      <p:sp>
        <p:nvSpPr>
          <p:cNvPr id="11" name="Text 6"/>
          <p:cNvSpPr txBox="1"/>
          <p:nvPr/>
        </p:nvSpPr>
        <p:spPr>
          <a:xfrm>
            <a:off x="6451600" y="3575050"/>
            <a:ext cx="4927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Single or Twin, or type a room name.</a:t>
            </a:r>
            <a:endParaRPr lang="en-US" sz="1300" dirty="0"/>
          </a:p>
        </p:txBody>
      </p:sp>
      <p:pic>
        <p:nvPicPr>
          <p:cNvPr id="12" name="Image 3" descr="preencoded.png">    </p:cNvPr>
          <p:cNvPicPr>
            <a:picLocks noChangeAspect="1"/>
          </p:cNvPicPr>
          <p:nvPr/>
        </p:nvPicPr>
        <p:blipFill>
          <a:blip r:embed="rId4"/>
          <a:stretch>
            <a:fillRect/>
          </a:stretch>
        </p:blipFill>
        <p:spPr>
          <a:xfrm>
            <a:off x="5994400" y="4165600"/>
            <a:ext cx="304800" cy="304800"/>
          </a:xfrm>
          <a:prstGeom prst="rect">
            <a:avLst/>
          </a:prstGeom>
        </p:spPr>
      </p:pic>
      <p:sp>
        <p:nvSpPr>
          <p:cNvPr id="13" name="Text 7"/>
          <p:cNvSpPr txBox="1"/>
          <p:nvPr/>
        </p:nvSpPr>
        <p:spPr>
          <a:xfrm>
            <a:off x="6451600" y="4165600"/>
            <a:ext cx="4927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Live for everyone</a:t>
            </a:r>
            <a:endParaRPr lang="en-US" sz="1600" dirty="0"/>
          </a:p>
        </p:txBody>
      </p:sp>
      <p:sp>
        <p:nvSpPr>
          <p:cNvPr id="14" name="Text 8"/>
          <p:cNvSpPr txBox="1"/>
          <p:nvPr/>
        </p:nvSpPr>
        <p:spPr>
          <a:xfrm>
            <a:off x="6451600" y="4457700"/>
            <a:ext cx="4927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Availability reflects every guest's bookings, so what you see is bookable.</a:t>
            </a:r>
            <a:endParaRPr lang="en-US" sz="1300" dirty="0"/>
          </a:p>
        </p:txBody>
      </p:sp>
      <p:pic>
        <p:nvPicPr>
          <p:cNvPr id="15" name="Image 4" descr="preencoded.png">    </p:cNvPr>
          <p:cNvPicPr>
            <a:picLocks noChangeAspect="1"/>
          </p:cNvPicPr>
          <p:nvPr/>
        </p:nvPicPr>
        <p:blipFill>
          <a:blip r:embed="rId5"/>
          <a:stretch>
            <a:fillRect/>
          </a:stretch>
        </p:blipFill>
        <p:spPr>
          <a:xfrm>
            <a:off x="5994400" y="5048250"/>
            <a:ext cx="304800" cy="304800"/>
          </a:xfrm>
          <a:prstGeom prst="rect">
            <a:avLst/>
          </a:prstGeom>
        </p:spPr>
      </p:pic>
      <p:sp>
        <p:nvSpPr>
          <p:cNvPr id="16" name="Text 9"/>
          <p:cNvSpPr txBox="1"/>
          <p:nvPr/>
        </p:nvSpPr>
        <p:spPr>
          <a:xfrm>
            <a:off x="6451600" y="5048250"/>
            <a:ext cx="4927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Know before you book</a:t>
            </a:r>
            <a:endParaRPr lang="en-US" sz="1600" dirty="0"/>
          </a:p>
        </p:txBody>
      </p:sp>
      <p:sp>
        <p:nvSpPr>
          <p:cNvPr id="17" name="Text 10"/>
          <p:cNvSpPr txBox="1"/>
          <p:nvPr/>
        </p:nvSpPr>
        <p:spPr>
          <a:xfrm>
            <a:off x="6451600" y="5340350"/>
            <a:ext cx="4927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Photos, amenities, guest capacity and nightly price for every room.</a:t>
            </a:r>
            <a:endParaRPr lang="en-US" sz="1300" dirty="0"/>
          </a:p>
        </p:txBody>
      </p:sp>
      <p:sp>
        <p:nvSpPr>
          <p:cNvPr id="18" name="Text 11"/>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19" name="Text 12"/>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8DA"/>
        </a:solidFill>
      </p:bgPr>
    </p:bg>
    <p:spTree>
      <p:nvGrpSpPr>
        <p:cNvPr id="1" name=""/>
        <p:cNvGrpSpPr/>
        <p:nvPr/>
      </p:nvGrpSpPr>
      <p:grpSpPr>
        <a:xfrm>
          <a:off x="0" y="0"/>
          <a:ext cx="0" cy="0"/>
          <a:chOff x="0" y="0"/>
          <a:chExt cx="0" cy="0"/>
        </a:xfrm>
      </p:grpSpPr>
      <p:sp>
        <p:nvSpPr>
          <p:cNvPr id="2" name="Text 0"/>
          <p:cNvSpPr txBox="1"/>
          <p:nvPr/>
        </p:nvSpPr>
        <p:spPr>
          <a:xfrm>
            <a:off x="812800" y="812800"/>
            <a:ext cx="66548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96401A"/>
                </a:solidFill>
                <a:latin typeface="Nunito Sans" pitchFamily="34" charset="0"/>
                <a:ea typeface="Nunito Sans" pitchFamily="34" charset="-122"/>
                <a:cs typeface="Nunito Sans" pitchFamily="34" charset="-120"/>
              </a:rPr>
              <a:t>FEATURE · PAY</a:t>
            </a:r>
            <a:endParaRPr lang="en-US" sz="1300" dirty="0"/>
          </a:p>
        </p:txBody>
      </p:sp>
      <p:sp>
        <p:nvSpPr>
          <p:cNvPr id="3" name="Text 1"/>
          <p:cNvSpPr txBox="1"/>
          <p:nvPr/>
        </p:nvSpPr>
        <p:spPr>
          <a:xfrm>
            <a:off x="812800" y="1143000"/>
            <a:ext cx="6654800" cy="10160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Pay the way Thailand already pays</a:t>
            </a:r>
            <a:endParaRPr lang="en-US" sz="3600" dirty="0"/>
          </a:p>
        </p:txBody>
      </p:sp>
      <p:pic>
        <p:nvPicPr>
          <p:cNvPr id="4" name="Image 0" descr="preencoded.png">    </p:cNvPr>
          <p:cNvPicPr>
            <a:picLocks noChangeAspect="1"/>
          </p:cNvPicPr>
          <p:nvPr/>
        </p:nvPicPr>
        <p:blipFill>
          <a:blip r:embed="rId1"/>
          <a:stretch>
            <a:fillRect/>
          </a:stretch>
        </p:blipFill>
        <p:spPr>
          <a:xfrm>
            <a:off x="812800" y="2400300"/>
            <a:ext cx="304800" cy="304800"/>
          </a:xfrm>
          <a:prstGeom prst="rect">
            <a:avLst/>
          </a:prstGeom>
        </p:spPr>
      </p:pic>
      <p:sp>
        <p:nvSpPr>
          <p:cNvPr id="5" name="Text 2"/>
          <p:cNvSpPr txBox="1"/>
          <p:nvPr/>
        </p:nvSpPr>
        <p:spPr>
          <a:xfrm>
            <a:off x="1270000" y="2400300"/>
            <a:ext cx="6197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PromptPay QR, exact amount</a:t>
            </a:r>
            <a:endParaRPr lang="en-US" sz="1600" dirty="0"/>
          </a:p>
        </p:txBody>
      </p:sp>
      <p:sp>
        <p:nvSpPr>
          <p:cNvPr id="6" name="Text 3"/>
          <p:cNvSpPr txBox="1"/>
          <p:nvPr/>
        </p:nvSpPr>
        <p:spPr>
          <a:xfrm>
            <a:off x="1270000" y="2692400"/>
            <a:ext cx="6197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The app makes a QR for the booking total. Scan it with any Thai banking app.</a:t>
            </a:r>
            <a:endParaRPr lang="en-US" sz="1300" dirty="0"/>
          </a:p>
        </p:txBody>
      </p:sp>
      <p:pic>
        <p:nvPicPr>
          <p:cNvPr id="7" name="Image 1" descr="preencoded.png">    </p:cNvPr>
          <p:cNvPicPr>
            <a:picLocks noChangeAspect="1"/>
          </p:cNvPicPr>
          <p:nvPr/>
        </p:nvPicPr>
        <p:blipFill>
          <a:blip r:embed="rId2"/>
          <a:stretch>
            <a:fillRect/>
          </a:stretch>
        </p:blipFill>
        <p:spPr>
          <a:xfrm>
            <a:off x="812800" y="3282950"/>
            <a:ext cx="304800" cy="304800"/>
          </a:xfrm>
          <a:prstGeom prst="rect">
            <a:avLst/>
          </a:prstGeom>
        </p:spPr>
      </p:pic>
      <p:sp>
        <p:nvSpPr>
          <p:cNvPr id="8" name="Text 4"/>
          <p:cNvSpPr txBox="1"/>
          <p:nvPr/>
        </p:nvSpPr>
        <p:spPr>
          <a:xfrm>
            <a:off x="1270000" y="3282950"/>
            <a:ext cx="6197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Upload the slip, staff verify</a:t>
            </a:r>
            <a:endParaRPr lang="en-US" sz="1600" dirty="0"/>
          </a:p>
        </p:txBody>
      </p:sp>
      <p:sp>
        <p:nvSpPr>
          <p:cNvPr id="9" name="Text 5"/>
          <p:cNvSpPr txBox="1"/>
          <p:nvPr/>
        </p:nvSpPr>
        <p:spPr>
          <a:xfrm>
            <a:off x="1270000" y="3575050"/>
            <a:ext cx="6197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A rejected slip comes back with the reason, and the guest can upload a new one.</a:t>
            </a:r>
            <a:endParaRPr lang="en-US" sz="1300" dirty="0"/>
          </a:p>
        </p:txBody>
      </p:sp>
      <p:pic>
        <p:nvPicPr>
          <p:cNvPr id="10" name="Image 2" descr="preencoded.png">    </p:cNvPr>
          <p:cNvPicPr>
            <a:picLocks noChangeAspect="1"/>
          </p:cNvPicPr>
          <p:nvPr/>
        </p:nvPicPr>
        <p:blipFill>
          <a:blip r:embed="rId3"/>
          <a:stretch>
            <a:fillRect/>
          </a:stretch>
        </p:blipFill>
        <p:spPr>
          <a:xfrm>
            <a:off x="812800" y="4165600"/>
            <a:ext cx="304800" cy="304800"/>
          </a:xfrm>
          <a:prstGeom prst="rect">
            <a:avLst/>
          </a:prstGeom>
        </p:spPr>
      </p:pic>
      <p:sp>
        <p:nvSpPr>
          <p:cNvPr id="11" name="Text 6"/>
          <p:cNvSpPr txBox="1"/>
          <p:nvPr/>
        </p:nvSpPr>
        <p:spPr>
          <a:xfrm>
            <a:off x="1270000" y="4165600"/>
            <a:ext cx="6197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Rooms never sit blocked</a:t>
            </a:r>
            <a:endParaRPr lang="en-US" sz="1600" dirty="0"/>
          </a:p>
        </p:txBody>
      </p:sp>
      <p:sp>
        <p:nvSpPr>
          <p:cNvPr id="12" name="Text 7"/>
          <p:cNvSpPr txBox="1"/>
          <p:nvPr/>
        </p:nvSpPr>
        <p:spPr>
          <a:xfrm>
            <a:off x="1270000" y="4457700"/>
            <a:ext cx="6197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A countdown holds the room while the guest pays. Unpaid holds are released automatically.</a:t>
            </a:r>
            <a:endParaRPr lang="en-US" sz="1300" dirty="0"/>
          </a:p>
        </p:txBody>
      </p:sp>
      <p:pic>
        <p:nvPicPr>
          <p:cNvPr id="13" name="Image 3" descr="preencoded.png">    </p:cNvPr>
          <p:cNvPicPr>
            <a:picLocks noChangeAspect="1"/>
          </p:cNvPicPr>
          <p:nvPr/>
        </p:nvPicPr>
        <p:blipFill>
          <a:blip r:embed="rId4"/>
          <a:stretch>
            <a:fillRect/>
          </a:stretch>
        </p:blipFill>
        <p:spPr>
          <a:xfrm>
            <a:off x="812800" y="5048250"/>
            <a:ext cx="304800" cy="304800"/>
          </a:xfrm>
          <a:prstGeom prst="rect">
            <a:avLst/>
          </a:prstGeom>
        </p:spPr>
      </p:pic>
      <p:sp>
        <p:nvSpPr>
          <p:cNvPr id="14" name="Text 8"/>
          <p:cNvSpPr txBox="1"/>
          <p:nvPr/>
        </p:nvSpPr>
        <p:spPr>
          <a:xfrm>
            <a:off x="1270000" y="5048250"/>
            <a:ext cx="6197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No card data stored</a:t>
            </a:r>
            <a:endParaRPr lang="en-US" sz="1600" dirty="0"/>
          </a:p>
        </p:txBody>
      </p:sp>
      <p:sp>
        <p:nvSpPr>
          <p:cNvPr id="15" name="Text 9"/>
          <p:cNvSpPr txBox="1"/>
          <p:nvPr/>
        </p:nvSpPr>
        <p:spPr>
          <a:xfrm>
            <a:off x="1270000" y="5340350"/>
            <a:ext cx="6197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The app never keeps card or bank account numbers.</a:t>
            </a:r>
            <a:endParaRPr lang="en-US" sz="1300" dirty="0"/>
          </a:p>
        </p:txBody>
      </p:sp>
      <p:sp>
        <p:nvSpPr>
          <p:cNvPr id="16" name="Shape 10"/>
          <p:cNvSpPr/>
          <p:nvPr/>
        </p:nvSpPr>
        <p:spPr>
          <a:xfrm>
            <a:off x="8077200" y="812800"/>
            <a:ext cx="3302000" cy="5029200"/>
          </a:xfrm>
          <a:prstGeom prst="roundRect">
            <a:avLst>
              <a:gd name="adj" fmla="val 1491"/>
            </a:avLst>
          </a:prstGeom>
          <a:solidFill>
            <a:srgbClr val="FFFDF9"/>
          </a:solidFill>
          <a:ln/>
        </p:spPr>
      </p:sp>
      <p:pic>
        <p:nvPicPr>
          <p:cNvPr id="17" name="Image 4" descr="/tmp/claude-0/-home-claude/7d06284d-c71b-56e0-9fd5-4b6c44927ce3/scratchpad/pptx/img/pay.png">    </p:cNvPr>
          <p:cNvPicPr>
            <a:picLocks noChangeAspect="1"/>
          </p:cNvPicPr>
          <p:nvPr/>
        </p:nvPicPr>
        <p:blipFill>
          <a:blip r:embed="rId5"/>
          <a:stretch>
            <a:fillRect/>
          </a:stretch>
        </p:blipFill>
        <p:spPr>
          <a:xfrm>
            <a:off x="8648700" y="1035050"/>
            <a:ext cx="2152650" cy="4584700"/>
          </a:xfrm>
          <a:prstGeom prst="rect">
            <a:avLst/>
          </a:prstGeom>
        </p:spPr>
      </p:pic>
      <p:sp>
        <p:nvSpPr>
          <p:cNvPr id="18" name="Text 11"/>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19" name="Text 12"/>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A8451C"/>
                </a:solidFill>
                <a:latin typeface="Nunito Sans" pitchFamily="34" charset="0"/>
                <a:ea typeface="Nunito Sans" pitchFamily="34" charset="-122"/>
                <a:cs typeface="Nunito Sans" pitchFamily="34" charset="-120"/>
              </a:rPr>
              <a:t>FEATURE · STAY INFORMED</a:t>
            </a:r>
            <a:endParaRPr lang="en-US" sz="13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Guests always know where they stand</a:t>
            </a:r>
            <a:endParaRPr lang="en-US" sz="3600" dirty="0"/>
          </a:p>
        </p:txBody>
      </p:sp>
      <p:pic>
        <p:nvPicPr>
          <p:cNvPr id="4" name="Image 0" descr="preencoded.png">    </p:cNvPr>
          <p:cNvPicPr>
            <a:picLocks noChangeAspect="1"/>
          </p:cNvPicPr>
          <p:nvPr/>
        </p:nvPicPr>
        <p:blipFill>
          <a:blip r:embed="rId1"/>
          <a:stretch>
            <a:fillRect/>
          </a:stretch>
        </p:blipFill>
        <p:spPr>
          <a:xfrm>
            <a:off x="812800" y="1949450"/>
            <a:ext cx="304800" cy="304800"/>
          </a:xfrm>
          <a:prstGeom prst="rect">
            <a:avLst/>
          </a:prstGeom>
        </p:spPr>
      </p:pic>
      <p:sp>
        <p:nvSpPr>
          <p:cNvPr id="5" name="Text 2"/>
          <p:cNvSpPr txBox="1"/>
          <p:nvPr/>
        </p:nvSpPr>
        <p:spPr>
          <a:xfrm>
            <a:off x="1270000" y="1949450"/>
            <a:ext cx="51562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My bookings</a:t>
            </a:r>
            <a:endParaRPr lang="en-US" sz="1600" dirty="0"/>
          </a:p>
        </p:txBody>
      </p:sp>
      <p:sp>
        <p:nvSpPr>
          <p:cNvPr id="6" name="Text 3"/>
          <p:cNvSpPr txBox="1"/>
          <p:nvPr/>
        </p:nvSpPr>
        <p:spPr>
          <a:xfrm>
            <a:off x="1270000" y="2241550"/>
            <a:ext cx="51562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Every booking with its status: Pending, Approved, Checked in, Checked out or Cancelled.</a:t>
            </a:r>
            <a:endParaRPr lang="en-US" sz="1300" dirty="0"/>
          </a:p>
        </p:txBody>
      </p:sp>
      <p:pic>
        <p:nvPicPr>
          <p:cNvPr id="7" name="Image 1" descr="preencoded.png">    </p:cNvPr>
          <p:cNvPicPr>
            <a:picLocks noChangeAspect="1"/>
          </p:cNvPicPr>
          <p:nvPr/>
        </p:nvPicPr>
        <p:blipFill>
          <a:blip r:embed="rId2"/>
          <a:stretch>
            <a:fillRect/>
          </a:stretch>
        </p:blipFill>
        <p:spPr>
          <a:xfrm>
            <a:off x="812800" y="2901950"/>
            <a:ext cx="304800" cy="304800"/>
          </a:xfrm>
          <a:prstGeom prst="rect">
            <a:avLst/>
          </a:prstGeom>
        </p:spPr>
      </p:pic>
      <p:sp>
        <p:nvSpPr>
          <p:cNvPr id="8" name="Text 4"/>
          <p:cNvSpPr txBox="1"/>
          <p:nvPr/>
        </p:nvSpPr>
        <p:spPr>
          <a:xfrm>
            <a:off x="1270000" y="2901950"/>
            <a:ext cx="51562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Plans changed? Cancel in the app</a:t>
            </a:r>
            <a:endParaRPr lang="en-US" sz="1600" dirty="0"/>
          </a:p>
        </p:txBody>
      </p:sp>
      <p:sp>
        <p:nvSpPr>
          <p:cNvPr id="9" name="Text 5"/>
          <p:cNvSpPr txBox="1"/>
          <p:nvPr/>
        </p:nvSpPr>
        <p:spPr>
          <a:xfrm>
            <a:off x="1270000" y="3194050"/>
            <a:ext cx="51562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Guests can cancel before check-in day, with a confirm step so nothing happens by accident.</a:t>
            </a:r>
            <a:endParaRPr lang="en-US" sz="1300" dirty="0"/>
          </a:p>
        </p:txBody>
      </p:sp>
      <p:pic>
        <p:nvPicPr>
          <p:cNvPr id="10" name="Image 2" descr="preencoded.png">    </p:cNvPr>
          <p:cNvPicPr>
            <a:picLocks noChangeAspect="1"/>
          </p:cNvPicPr>
          <p:nvPr/>
        </p:nvPicPr>
        <p:blipFill>
          <a:blip r:embed="rId3"/>
          <a:stretch>
            <a:fillRect/>
          </a:stretch>
        </p:blipFill>
        <p:spPr>
          <a:xfrm>
            <a:off x="812800" y="3854450"/>
            <a:ext cx="304800" cy="304800"/>
          </a:xfrm>
          <a:prstGeom prst="rect">
            <a:avLst/>
          </a:prstGeom>
        </p:spPr>
      </p:pic>
      <p:sp>
        <p:nvSpPr>
          <p:cNvPr id="11" name="Text 6"/>
          <p:cNvSpPr txBox="1"/>
          <p:nvPr/>
        </p:nvSpPr>
        <p:spPr>
          <a:xfrm>
            <a:off x="1270000" y="3854450"/>
            <a:ext cx="51562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Forgot the password? No problem</a:t>
            </a:r>
            <a:endParaRPr lang="en-US" sz="1600" dirty="0"/>
          </a:p>
        </p:txBody>
      </p:sp>
      <p:sp>
        <p:nvSpPr>
          <p:cNvPr id="12" name="Text 7"/>
          <p:cNvSpPr txBox="1"/>
          <p:nvPr/>
        </p:nvSpPr>
        <p:spPr>
          <a:xfrm>
            <a:off x="1270000" y="4146550"/>
            <a:ext cx="51562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A verification code is emailed so guests can set a new one themselves.</a:t>
            </a:r>
            <a:endParaRPr lang="en-US" sz="1300" dirty="0"/>
          </a:p>
        </p:txBody>
      </p:sp>
      <p:sp>
        <p:nvSpPr>
          <p:cNvPr id="13" name="Shape 8"/>
          <p:cNvSpPr/>
          <p:nvPr/>
        </p:nvSpPr>
        <p:spPr>
          <a:xfrm>
            <a:off x="6934200" y="1949450"/>
            <a:ext cx="4445000" cy="3365500"/>
          </a:xfrm>
          <a:prstGeom prst="roundRect">
            <a:avLst>
              <a:gd name="adj" fmla="val 1230"/>
            </a:avLst>
          </a:prstGeom>
          <a:solidFill>
            <a:srgbClr val="FFFDF9"/>
          </a:solidFill>
          <a:ln w="9525">
            <a:solidFill>
              <a:srgbClr val="E6DCCD"/>
            </a:solidFill>
            <a:prstDash val="solid"/>
          </a:ln>
          <a:effectLst>
            <a:outerShdw sx="100000" sy="100000" kx="0" ky="0" algn="bl" rotWithShape="0" blurRad="228600" dist="101600" dir="5400000">
              <a:srgbClr val="1F3347">
                <a:alpha val="18000"/>
              </a:srgbClr>
            </a:outerShdw>
          </a:effectLst>
        </p:spPr>
      </p:sp>
      <p:pic>
        <p:nvPicPr>
          <p:cNvPr id="14" name="Image 3" descr="preencoded.png">    </p:cNvPr>
          <p:cNvPicPr>
            <a:picLocks noChangeAspect="1"/>
          </p:cNvPicPr>
          <p:nvPr/>
        </p:nvPicPr>
        <p:blipFill>
          <a:blip r:embed="rId4"/>
          <a:stretch>
            <a:fillRect/>
          </a:stretch>
        </p:blipFill>
        <p:spPr>
          <a:xfrm>
            <a:off x="7188200" y="2203450"/>
            <a:ext cx="254000" cy="254000"/>
          </a:xfrm>
          <a:prstGeom prst="rect">
            <a:avLst/>
          </a:prstGeom>
        </p:spPr>
      </p:pic>
      <p:sp>
        <p:nvSpPr>
          <p:cNvPr id="15" name="Text 9"/>
          <p:cNvSpPr txBox="1"/>
          <p:nvPr/>
        </p:nvSpPr>
        <p:spPr>
          <a:xfrm>
            <a:off x="7543800" y="2203450"/>
            <a:ext cx="3683000" cy="254000"/>
          </a:xfrm>
          <a:prstGeom prst="rect">
            <a:avLst/>
          </a:prstGeom>
          <a:noFill/>
          <a:ln/>
        </p:spPr>
        <p:txBody>
          <a:bodyPr wrap="square" lIns="0" tIns="0" rIns="0" bIns="0" rtlCol="0" anchor="ctr"/>
          <a:lstStyle/>
          <a:p>
            <a:pPr algn="l" indent="0" marL="0">
              <a:lnSpc>
                <a:spcPct val="120000"/>
              </a:lnSpc>
              <a:buNone/>
            </a:pPr>
            <a:r>
              <a:rPr lang="en-US" sz="1400" b="1" dirty="0">
                <a:solidFill>
                  <a:srgbClr val="1F3347"/>
                </a:solidFill>
                <a:latin typeface="Nunito Sans" pitchFamily="34" charset="0"/>
                <a:ea typeface="Nunito Sans" pitchFamily="34" charset="-122"/>
                <a:cs typeface="Nunito Sans" pitchFamily="34" charset="-120"/>
              </a:rPr>
              <a:t>Booking confirmation email</a:t>
            </a:r>
            <a:endParaRPr lang="en-US" sz="1400" dirty="0"/>
          </a:p>
        </p:txBody>
      </p:sp>
      <p:sp>
        <p:nvSpPr>
          <p:cNvPr id="16" name="Text 10"/>
          <p:cNvSpPr txBox="1"/>
          <p:nvPr/>
        </p:nvSpPr>
        <p:spPr>
          <a:xfrm>
            <a:off x="7188200" y="2571750"/>
            <a:ext cx="3937000" cy="266700"/>
          </a:xfrm>
          <a:prstGeom prst="rect">
            <a:avLst/>
          </a:prstGeom>
          <a:noFill/>
          <a:ln/>
        </p:spPr>
        <p:txBody>
          <a:bodyPr wrap="square" lIns="0" tIns="0" rIns="0" bIns="0" rtlCol="0" anchor="t"/>
          <a:lstStyle/>
          <a:p>
            <a:pPr algn="l" indent="0" marL="0">
              <a:lnSpc>
                <a:spcPct val="120000"/>
              </a:lnSpc>
              <a:buNone/>
            </a:pPr>
            <a:r>
              <a:rPr lang="en-US" sz="1400" dirty="0">
                <a:solidFill>
                  <a:srgbClr val="4A5360"/>
                </a:solidFill>
                <a:latin typeface="Sarabun" pitchFamily="34" charset="0"/>
                <a:ea typeface="Sarabun" pitchFamily="34" charset="-122"/>
                <a:cs typeface="Sarabun" pitchFamily="34" charset="-120"/>
              </a:rPr>
              <a:t>ยืนยันการจองห้อง … — Poonsuk Resort</a:t>
            </a:r>
            <a:endParaRPr lang="en-US" sz="1400" dirty="0"/>
          </a:p>
        </p:txBody>
      </p:sp>
      <p:sp>
        <p:nvSpPr>
          <p:cNvPr id="17" name="Shape 11"/>
          <p:cNvSpPr/>
          <p:nvPr/>
        </p:nvSpPr>
        <p:spPr>
          <a:xfrm>
            <a:off x="7188200" y="2940050"/>
            <a:ext cx="3937000" cy="12700"/>
          </a:xfrm>
          <a:prstGeom prst="rect">
            <a:avLst/>
          </a:prstGeom>
          <a:solidFill>
            <a:srgbClr val="E6DCCD"/>
          </a:solidFill>
          <a:ln/>
        </p:spPr>
      </p:sp>
      <p:sp>
        <p:nvSpPr>
          <p:cNvPr id="18" name="Text 12"/>
          <p:cNvSpPr txBox="1"/>
          <p:nvPr/>
        </p:nvSpPr>
        <p:spPr>
          <a:xfrm>
            <a:off x="7188200" y="3079750"/>
            <a:ext cx="3937000" cy="1587500"/>
          </a:xfrm>
          <a:prstGeom prst="rect">
            <a:avLst/>
          </a:prstGeom>
          <a:noFill/>
          <a:ln/>
        </p:spPr>
        <p:txBody>
          <a:bodyPr wrap="square" lIns="0" tIns="0" rIns="0" bIns="0" rtlCol="0" anchor="t"/>
          <a:lstStyle/>
          <a:p>
            <a:pPr marL="342900" indent="-342900">
              <a:lnSpc>
                <a:spcPct val="120000"/>
              </a:lnSpc>
              <a:spcAft>
                <a:spcPts val="400"/>
              </a:spcAft>
              <a:buSzPct val="100000"/>
              <a:buChar char="•"/>
            </a:pPr>
            <a:r>
              <a:rPr lang="en-US" sz="1300" dirty="0">
                <a:solidFill>
                  <a:srgbClr val="1F3347"/>
                </a:solidFill>
                <a:latin typeface="Nunito Sans" pitchFamily="34" charset="0"/>
                <a:ea typeface="Nunito Sans" pitchFamily="34" charset="-122"/>
                <a:cs typeface="Nunito Sans" pitchFamily="34" charset="-120"/>
              </a:rPr>
              <a:t>Room name</a:t>
            </a:r>
            <a:endParaRPr lang="en-US" sz="1300" dirty="0"/>
          </a:p>
          <a:p>
            <a:pPr marL="342900" indent="-342900">
              <a:lnSpc>
                <a:spcPct val="120000"/>
              </a:lnSpc>
              <a:spcAft>
                <a:spcPts val="400"/>
              </a:spcAft>
              <a:buSzPct val="100000"/>
              <a:buChar char="•"/>
            </a:pPr>
            <a:r>
              <a:rPr lang="en-US" sz="1300" dirty="0">
                <a:solidFill>
                  <a:srgbClr val="1F3347"/>
                </a:solidFill>
                <a:latin typeface="Nunito Sans" pitchFamily="34" charset="0"/>
                <a:ea typeface="Nunito Sans" pitchFamily="34" charset="-122"/>
                <a:cs typeface="Nunito Sans" pitchFamily="34" charset="-120"/>
              </a:rPr>
              <a:t>Check-in date, from 14:00</a:t>
            </a:r>
            <a:endParaRPr lang="en-US" sz="1300" dirty="0"/>
          </a:p>
          <a:p>
            <a:pPr marL="342900" indent="-342900">
              <a:lnSpc>
                <a:spcPct val="120000"/>
              </a:lnSpc>
              <a:spcAft>
                <a:spcPts val="400"/>
              </a:spcAft>
              <a:buSzPct val="100000"/>
              <a:buChar char="•"/>
            </a:pPr>
            <a:r>
              <a:rPr lang="en-US" sz="1300" dirty="0">
                <a:solidFill>
                  <a:srgbClr val="1F3347"/>
                </a:solidFill>
                <a:latin typeface="Nunito Sans" pitchFamily="34" charset="0"/>
                <a:ea typeface="Nunito Sans" pitchFamily="34" charset="-122"/>
                <a:cs typeface="Nunito Sans" pitchFamily="34" charset="-120"/>
              </a:rPr>
              <a:t>Check-out date, by 12:00</a:t>
            </a:r>
            <a:endParaRPr lang="en-US" sz="1300" dirty="0"/>
          </a:p>
          <a:p>
            <a:pPr marL="342900" indent="-342900">
              <a:lnSpc>
                <a:spcPct val="120000"/>
              </a:lnSpc>
              <a:spcAft>
                <a:spcPts val="400"/>
              </a:spcAft>
              <a:buSzPct val="100000"/>
              <a:buChar char="•"/>
            </a:pPr>
            <a:r>
              <a:rPr lang="en-US" sz="1300" dirty="0">
                <a:solidFill>
                  <a:srgbClr val="1F3347"/>
                </a:solidFill>
                <a:latin typeface="Nunito Sans" pitchFamily="34" charset="0"/>
                <a:ea typeface="Nunito Sans" pitchFamily="34" charset="-122"/>
                <a:cs typeface="Nunito Sans" pitchFamily="34" charset="-120"/>
              </a:rPr>
              <a:t>Nights and number of guests</a:t>
            </a:r>
            <a:endParaRPr lang="en-US" sz="1300" dirty="0"/>
          </a:p>
          <a:p>
            <a:pPr marL="342900" indent="-342900">
              <a:lnSpc>
                <a:spcPct val="120000"/>
              </a:lnSpc>
              <a:spcAft>
                <a:spcPts val="400"/>
              </a:spcAft>
              <a:buSzPct val="100000"/>
              <a:buChar char="•"/>
            </a:pPr>
            <a:r>
              <a:rPr lang="en-US" sz="1300" dirty="0">
                <a:solidFill>
                  <a:srgbClr val="1F3347"/>
                </a:solidFill>
                <a:latin typeface="Nunito Sans" pitchFamily="34" charset="0"/>
                <a:ea typeface="Nunito Sans" pitchFamily="34" charset="-122"/>
                <a:cs typeface="Nunito Sans" pitchFamily="34" charset="-120"/>
              </a:rPr>
              <a:t>Total paid</a:t>
            </a:r>
            <a:endParaRPr lang="en-US" sz="1300" dirty="0"/>
          </a:p>
          <a:p>
            <a:pPr marL="342900" indent="-342900">
              <a:lnSpc>
                <a:spcPct val="120000"/>
              </a:lnSpc>
              <a:spcAft>
                <a:spcPts val="400"/>
              </a:spcAft>
              <a:buSzPct val="100000"/>
              <a:buChar char="•"/>
            </a:pPr>
            <a:r>
              <a:rPr lang="en-US" sz="1300" dirty="0">
                <a:solidFill>
                  <a:srgbClr val="1F3347"/>
                </a:solidFill>
                <a:latin typeface="Nunito Sans" pitchFamily="34" charset="0"/>
                <a:ea typeface="Nunito Sans" pitchFamily="34" charset="-122"/>
                <a:cs typeface="Nunito Sans" pitchFamily="34" charset="-120"/>
              </a:rPr>
              <a:t>Booking number</a:t>
            </a:r>
            <a:endParaRPr lang="en-US" sz="1300" dirty="0"/>
          </a:p>
        </p:txBody>
      </p:sp>
      <p:sp>
        <p:nvSpPr>
          <p:cNvPr id="19" name="Text 13"/>
          <p:cNvSpPr txBox="1"/>
          <p:nvPr/>
        </p:nvSpPr>
        <p:spPr>
          <a:xfrm>
            <a:off x="7188200" y="4794250"/>
            <a:ext cx="3937000" cy="254000"/>
          </a:xfrm>
          <a:prstGeom prst="rect">
            <a:avLst/>
          </a:prstGeom>
          <a:noFill/>
          <a:ln/>
        </p:spPr>
        <p:txBody>
          <a:bodyPr wrap="square" lIns="0" tIns="0" rIns="0" bIns="0" rtlCol="0" anchor="t"/>
          <a:lstStyle/>
          <a:p>
            <a:pPr algn="l" indent="0" marL="0">
              <a:lnSpc>
                <a:spcPct val="120000"/>
              </a:lnSpc>
              <a:buNone/>
            </a:pPr>
            <a:r>
              <a:rPr lang="en-US" sz="1200" i="1" dirty="0">
                <a:solidFill>
                  <a:srgbClr val="2E6B3A"/>
                </a:solidFill>
                <a:latin typeface="Nunito Sans" pitchFamily="34" charset="0"/>
                <a:ea typeface="Nunito Sans" pitchFamily="34" charset="-122"/>
                <a:cs typeface="Nunito Sans" pitchFamily="34" charset="-120"/>
              </a:rPr>
              <a:t>Sent in Thai the moment staff confirm the payment.</a:t>
            </a:r>
            <a:endParaRPr lang="en-US" sz="1200" dirty="0"/>
          </a:p>
        </p:txBody>
      </p:sp>
      <p:sp>
        <p:nvSpPr>
          <p:cNvPr id="20" name="Text 14"/>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21" name="Text 15"/>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8DA"/>
        </a:solidFill>
      </p:bgPr>
    </p:bg>
    <p:spTree>
      <p:nvGrpSpPr>
        <p:cNvPr id="1" name=""/>
        <p:cNvGrpSpPr/>
        <p:nvPr/>
      </p:nvGrpSpPr>
      <p:grpSpPr>
        <a:xfrm>
          <a:off x="0" y="0"/>
          <a:ext cx="0" cy="0"/>
          <a:chOff x="0" y="0"/>
          <a:chExt cx="0" cy="0"/>
        </a:xfrm>
      </p:grpSpPr>
      <p:sp>
        <p:nvSpPr>
          <p:cNvPr id="2" name="Shape 0"/>
          <p:cNvSpPr/>
          <p:nvPr/>
        </p:nvSpPr>
        <p:spPr>
          <a:xfrm>
            <a:off x="812800" y="812800"/>
            <a:ext cx="3556000" cy="5029200"/>
          </a:xfrm>
          <a:prstGeom prst="roundRect">
            <a:avLst>
              <a:gd name="adj" fmla="val 1286"/>
            </a:avLst>
          </a:prstGeom>
          <a:solidFill>
            <a:srgbClr val="FFFDF9"/>
          </a:solidFill>
          <a:ln/>
        </p:spPr>
      </p:sp>
      <p:pic>
        <p:nvPicPr>
          <p:cNvPr id="3" name="Image 0" descr="/tmp/claude-0/-home-claude/7d06284d-c71b-56e0-9fd5-4b6c44927ce3/scratchpad/pptx/img/findus.png">    </p:cNvPr>
          <p:cNvPicPr>
            <a:picLocks noChangeAspect="1"/>
          </p:cNvPicPr>
          <p:nvPr/>
        </p:nvPicPr>
        <p:blipFill>
          <a:blip r:embed="rId1"/>
          <a:stretch>
            <a:fillRect/>
          </a:stretch>
        </p:blipFill>
        <p:spPr>
          <a:xfrm>
            <a:off x="1511300" y="1035050"/>
            <a:ext cx="2152650" cy="4584700"/>
          </a:xfrm>
          <a:prstGeom prst="rect">
            <a:avLst/>
          </a:prstGeom>
        </p:spPr>
      </p:pic>
      <p:sp>
        <p:nvSpPr>
          <p:cNvPr id="4" name="Text 1"/>
          <p:cNvSpPr txBox="1"/>
          <p:nvPr/>
        </p:nvSpPr>
        <p:spPr>
          <a:xfrm>
            <a:off x="4978400" y="812800"/>
            <a:ext cx="64008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96401A"/>
                </a:solidFill>
                <a:latin typeface="Nunito Sans" pitchFamily="34" charset="0"/>
                <a:ea typeface="Nunito Sans" pitchFamily="34" charset="-122"/>
                <a:cs typeface="Nunito Sans" pitchFamily="34" charset="-120"/>
              </a:rPr>
              <a:t>FEATURE · EXPLORE</a:t>
            </a:r>
            <a:endParaRPr lang="en-US" sz="1300" dirty="0"/>
          </a:p>
        </p:txBody>
      </p:sp>
      <p:sp>
        <p:nvSpPr>
          <p:cNvPr id="5" name="Text 2"/>
          <p:cNvSpPr txBox="1"/>
          <p:nvPr/>
        </p:nvSpPr>
        <p:spPr>
          <a:xfrm>
            <a:off x="4978400" y="1143000"/>
            <a:ext cx="6400800" cy="10160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Find the resort, and dinner nearby</a:t>
            </a:r>
            <a:endParaRPr lang="en-US" sz="3600" dirty="0"/>
          </a:p>
        </p:txBody>
      </p:sp>
      <p:pic>
        <p:nvPicPr>
          <p:cNvPr id="6" name="Image 1" descr="preencoded.png">    </p:cNvPr>
          <p:cNvPicPr>
            <a:picLocks noChangeAspect="1"/>
          </p:cNvPicPr>
          <p:nvPr/>
        </p:nvPicPr>
        <p:blipFill>
          <a:blip r:embed="rId2"/>
          <a:stretch>
            <a:fillRect/>
          </a:stretch>
        </p:blipFill>
        <p:spPr>
          <a:xfrm>
            <a:off x="4978400" y="2400300"/>
            <a:ext cx="304800" cy="304800"/>
          </a:xfrm>
          <a:prstGeom prst="rect">
            <a:avLst/>
          </a:prstGeom>
        </p:spPr>
      </p:pic>
      <p:sp>
        <p:nvSpPr>
          <p:cNvPr id="7" name="Text 3"/>
          <p:cNvSpPr txBox="1"/>
          <p:nvPr/>
        </p:nvSpPr>
        <p:spPr>
          <a:xfrm>
            <a:off x="5435600" y="2400300"/>
            <a:ext cx="5943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Hotel location</a:t>
            </a:r>
            <a:endParaRPr lang="en-US" sz="1600" dirty="0"/>
          </a:p>
        </p:txBody>
      </p:sp>
      <p:sp>
        <p:nvSpPr>
          <p:cNvPr id="8" name="Text 4"/>
          <p:cNvSpPr txBox="1"/>
          <p:nvPr/>
        </p:nvSpPr>
        <p:spPr>
          <a:xfrm>
            <a:off x="5435600" y="2692400"/>
            <a:ext cx="5943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A map of the resort with Get directions and Open in Google Maps, straight to the Poonsuk Resort@Sadao listing.</a:t>
            </a:r>
            <a:endParaRPr lang="en-US" sz="1300" dirty="0"/>
          </a:p>
        </p:txBody>
      </p:sp>
      <p:pic>
        <p:nvPicPr>
          <p:cNvPr id="9" name="Image 2" descr="preencoded.png">    </p:cNvPr>
          <p:cNvPicPr>
            <a:picLocks noChangeAspect="1"/>
          </p:cNvPicPr>
          <p:nvPr/>
        </p:nvPicPr>
        <p:blipFill>
          <a:blip r:embed="rId3"/>
          <a:stretch>
            <a:fillRect/>
          </a:stretch>
        </p:blipFill>
        <p:spPr>
          <a:xfrm>
            <a:off x="4978400" y="3333750"/>
            <a:ext cx="304800" cy="304800"/>
          </a:xfrm>
          <a:prstGeom prst="rect">
            <a:avLst/>
          </a:prstGeom>
        </p:spPr>
      </p:pic>
      <p:sp>
        <p:nvSpPr>
          <p:cNvPr id="10" name="Text 5"/>
          <p:cNvSpPr txBox="1"/>
          <p:nvPr/>
        </p:nvSpPr>
        <p:spPr>
          <a:xfrm>
            <a:off x="5435600" y="3333750"/>
            <a:ext cx="59436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Nearby dining</a:t>
            </a:r>
            <a:endParaRPr lang="en-US" sz="1600" dirty="0"/>
          </a:p>
        </p:txBody>
      </p:sp>
      <p:sp>
        <p:nvSpPr>
          <p:cNvPr id="11" name="Text 6"/>
          <p:cNvSpPr txBox="1"/>
          <p:nvPr/>
        </p:nvSpPr>
        <p:spPr>
          <a:xfrm>
            <a:off x="5435600" y="3625850"/>
            <a:ext cx="59436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Restaurants around the resort with cuisine, rating and distance, plus View on map and Directions.</a:t>
            </a:r>
            <a:endParaRPr lang="en-US" sz="1300" dirty="0"/>
          </a:p>
        </p:txBody>
      </p:sp>
      <p:sp>
        <p:nvSpPr>
          <p:cNvPr id="12" name="Shape 7"/>
          <p:cNvSpPr/>
          <p:nvPr/>
        </p:nvSpPr>
        <p:spPr>
          <a:xfrm>
            <a:off x="4978400" y="4381500"/>
            <a:ext cx="6400800" cy="787400"/>
          </a:xfrm>
          <a:prstGeom prst="roundRect">
            <a:avLst>
              <a:gd name="adj" fmla="val 18730"/>
            </a:avLst>
          </a:prstGeom>
          <a:solidFill>
            <a:srgbClr val="FFFDF9"/>
          </a:solidFill>
          <a:ln/>
        </p:spPr>
      </p:sp>
      <p:sp>
        <p:nvSpPr>
          <p:cNvPr id="13" name="Text 8"/>
          <p:cNvSpPr txBox="1"/>
          <p:nvPr/>
        </p:nvSpPr>
        <p:spPr>
          <a:xfrm>
            <a:off x="5181600" y="4533900"/>
            <a:ext cx="5969000" cy="215900"/>
          </a:xfrm>
          <a:prstGeom prst="rect">
            <a:avLst/>
          </a:prstGeom>
          <a:noFill/>
          <a:ln/>
        </p:spPr>
        <p:txBody>
          <a:bodyPr wrap="square" lIns="0" tIns="0" rIns="0" bIns="0" rtlCol="0" anchor="t"/>
          <a:lstStyle/>
          <a:p>
            <a:pPr algn="l" indent="0" marL="0">
              <a:lnSpc>
                <a:spcPct val="120000"/>
              </a:lnSpc>
              <a:buNone/>
            </a:pPr>
            <a:r>
              <a:rPr lang="en-US" sz="1200" b="1" spc="100" kern="0" dirty="0">
                <a:solidFill>
                  <a:srgbClr val="2E6B3A"/>
                </a:solidFill>
                <a:latin typeface="Nunito Sans" pitchFamily="34" charset="0"/>
                <a:ea typeface="Nunito Sans" pitchFamily="34" charset="-122"/>
                <a:cs typeface="Nunito Sans" pitchFamily="34" charset="-120"/>
              </a:rPr>
              <a:t>FIND US</a:t>
            </a:r>
            <a:endParaRPr lang="en-US" sz="1200" dirty="0"/>
          </a:p>
        </p:txBody>
      </p:sp>
      <p:sp>
        <p:nvSpPr>
          <p:cNvPr id="14" name="Text 9"/>
          <p:cNvSpPr txBox="1"/>
          <p:nvPr/>
        </p:nvSpPr>
        <p:spPr>
          <a:xfrm>
            <a:off x="5181600" y="4775200"/>
            <a:ext cx="5969000" cy="266700"/>
          </a:xfrm>
          <a:prstGeom prst="rect">
            <a:avLst/>
          </a:prstGeom>
          <a:noFill/>
          <a:ln/>
        </p:spPr>
        <p:txBody>
          <a:bodyPr wrap="square" lIns="0" tIns="0" rIns="0" bIns="0" rtlCol="0" anchor="t"/>
          <a:lstStyle/>
          <a:p>
            <a:pPr algn="l" indent="0" marL="0">
              <a:lnSpc>
                <a:spcPct val="120000"/>
              </a:lnSpc>
              <a:buNone/>
            </a:pPr>
            <a:r>
              <a:rPr lang="en-US" sz="1400" dirty="0">
                <a:solidFill>
                  <a:srgbClr val="1F3347"/>
                </a:solidFill>
                <a:latin typeface="Sarabun" pitchFamily="34" charset="0"/>
                <a:ea typeface="Sarabun" pitchFamily="34" charset="-122"/>
                <a:cs typeface="Sarabun" pitchFamily="34" charset="-120"/>
              </a:rPr>
              <a:t>53/33 11 ถ.เลียบคลองท่าพรุ ต.สะเดา อ.สะเดา สงขลา 90120</a:t>
            </a:r>
            <a:endParaRPr lang="en-US" sz="1400" dirty="0"/>
          </a:p>
        </p:txBody>
      </p:sp>
      <p:sp>
        <p:nvSpPr>
          <p:cNvPr id="15" name="Text 10"/>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16" name="Text 11"/>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A8451C"/>
                </a:solidFill>
                <a:latin typeface="Nunito Sans" pitchFamily="34" charset="0"/>
                <a:ea typeface="Nunito Sans" pitchFamily="34" charset="-122"/>
                <a:cs typeface="Nunito Sans" pitchFamily="34" charset="-120"/>
              </a:rPr>
              <a:t>FOR THE RESORT TEAM · EVERY DAY</a:t>
            </a:r>
            <a:endParaRPr lang="en-US" sz="13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Run the front desk from one phone</a:t>
            </a:r>
            <a:endParaRPr lang="en-US" sz="3600" dirty="0"/>
          </a:p>
        </p:txBody>
      </p:sp>
      <p:pic>
        <p:nvPicPr>
          <p:cNvPr id="4" name="Image 0" descr="preencoded.png">    </p:cNvPr>
          <p:cNvPicPr>
            <a:picLocks noChangeAspect="1"/>
          </p:cNvPicPr>
          <p:nvPr/>
        </p:nvPicPr>
        <p:blipFill>
          <a:blip r:embed="rId1"/>
          <a:stretch>
            <a:fillRect/>
          </a:stretch>
        </p:blipFill>
        <p:spPr>
          <a:xfrm>
            <a:off x="812800" y="2032000"/>
            <a:ext cx="304800" cy="304800"/>
          </a:xfrm>
          <a:prstGeom prst="rect">
            <a:avLst/>
          </a:prstGeom>
        </p:spPr>
      </p:pic>
      <p:sp>
        <p:nvSpPr>
          <p:cNvPr id="5" name="Text 2"/>
          <p:cNvSpPr txBox="1"/>
          <p:nvPr/>
        </p:nvSpPr>
        <p:spPr>
          <a:xfrm>
            <a:off x="1270000" y="2032000"/>
            <a:ext cx="38608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Approve, reschedule or cancel</a:t>
            </a:r>
            <a:endParaRPr lang="en-US" sz="1600" dirty="0"/>
          </a:p>
        </p:txBody>
      </p:sp>
      <p:sp>
        <p:nvSpPr>
          <p:cNvPr id="6" name="Text 3"/>
          <p:cNvSpPr txBox="1"/>
          <p:nvPr/>
        </p:nvSpPr>
        <p:spPr>
          <a:xfrm>
            <a:off x="1270000" y="2324100"/>
            <a:ext cx="3860800" cy="698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Each booking shows the guest, dates, nights and total. Filter by Pending, Approved or Checked in.</a:t>
            </a:r>
            <a:endParaRPr lang="en-US" sz="1300" dirty="0"/>
          </a:p>
        </p:txBody>
      </p:sp>
      <p:pic>
        <p:nvPicPr>
          <p:cNvPr id="7" name="Image 1" descr="preencoded.png">    </p:cNvPr>
          <p:cNvPicPr>
            <a:picLocks noChangeAspect="1"/>
          </p:cNvPicPr>
          <p:nvPr/>
        </p:nvPicPr>
        <p:blipFill>
          <a:blip r:embed="rId2"/>
          <a:stretch>
            <a:fillRect/>
          </a:stretch>
        </p:blipFill>
        <p:spPr>
          <a:xfrm>
            <a:off x="812800" y="3206750"/>
            <a:ext cx="304800" cy="304800"/>
          </a:xfrm>
          <a:prstGeom prst="rect">
            <a:avLst/>
          </a:prstGeom>
        </p:spPr>
      </p:pic>
      <p:sp>
        <p:nvSpPr>
          <p:cNvPr id="8" name="Text 4"/>
          <p:cNvSpPr txBox="1"/>
          <p:nvPr/>
        </p:nvSpPr>
        <p:spPr>
          <a:xfrm>
            <a:off x="1270000" y="3206750"/>
            <a:ext cx="38608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Verify payment slips</a:t>
            </a:r>
            <a:endParaRPr lang="en-US" sz="1600" dirty="0"/>
          </a:p>
        </p:txBody>
      </p:sp>
      <p:sp>
        <p:nvSpPr>
          <p:cNvPr id="9" name="Text 5"/>
          <p:cNvSpPr txBox="1"/>
          <p:nvPr/>
        </p:nvSpPr>
        <p:spPr>
          <a:xfrm>
            <a:off x="1270000" y="3498850"/>
            <a:ext cx="3860800" cy="698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Open the guest's transfer slip, then approve it, or reject it with a reason.</a:t>
            </a:r>
            <a:endParaRPr lang="en-US" sz="1300" dirty="0"/>
          </a:p>
        </p:txBody>
      </p:sp>
      <p:pic>
        <p:nvPicPr>
          <p:cNvPr id="10" name="Image 2" descr="preencoded.png">    </p:cNvPr>
          <p:cNvPicPr>
            <a:picLocks noChangeAspect="1"/>
          </p:cNvPicPr>
          <p:nvPr/>
        </p:nvPicPr>
        <p:blipFill>
          <a:blip r:embed="rId3"/>
          <a:stretch>
            <a:fillRect/>
          </a:stretch>
        </p:blipFill>
        <p:spPr>
          <a:xfrm>
            <a:off x="812800" y="4381500"/>
            <a:ext cx="304800" cy="304800"/>
          </a:xfrm>
          <a:prstGeom prst="rect">
            <a:avLst/>
          </a:prstGeom>
        </p:spPr>
      </p:pic>
      <p:sp>
        <p:nvSpPr>
          <p:cNvPr id="11" name="Text 6"/>
          <p:cNvSpPr txBox="1"/>
          <p:nvPr/>
        </p:nvSpPr>
        <p:spPr>
          <a:xfrm>
            <a:off x="1270000" y="4381500"/>
            <a:ext cx="38608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Check guests in and out</a:t>
            </a:r>
            <a:endParaRPr lang="en-US" sz="1600" dirty="0"/>
          </a:p>
        </p:txBody>
      </p:sp>
      <p:sp>
        <p:nvSpPr>
          <p:cNvPr id="12" name="Text 7"/>
          <p:cNvSpPr txBox="1"/>
          <p:nvPr/>
        </p:nvSpPr>
        <p:spPr>
          <a:xfrm>
            <a:off x="1270000" y="4673600"/>
            <a:ext cx="3860800" cy="6985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Mark arrivals and departures in one tap once the booking is paid.</a:t>
            </a:r>
            <a:endParaRPr lang="en-US" sz="1300" dirty="0"/>
          </a:p>
        </p:txBody>
      </p:sp>
      <p:sp>
        <p:nvSpPr>
          <p:cNvPr id="13" name="Shape 8"/>
          <p:cNvSpPr/>
          <p:nvPr/>
        </p:nvSpPr>
        <p:spPr>
          <a:xfrm>
            <a:off x="5537200" y="1898650"/>
            <a:ext cx="5842000" cy="3943350"/>
          </a:xfrm>
          <a:prstGeom prst="roundRect">
            <a:avLst>
              <a:gd name="adj" fmla="val 1046"/>
            </a:avLst>
          </a:prstGeom>
          <a:solidFill>
            <a:srgbClr val="F1E8DA"/>
          </a:solidFill>
          <a:ln/>
        </p:spPr>
      </p:sp>
      <p:pic>
        <p:nvPicPr>
          <p:cNvPr id="14" name="Image 3" descr="/tmp/claude-0/-home-claude/7d06284d-c71b-56e0-9fd5-4b6c44927ce3/scratchpad/pptx/img/bookings.png">    </p:cNvPr>
          <p:cNvPicPr>
            <a:picLocks noChangeAspect="1"/>
          </p:cNvPicPr>
          <p:nvPr/>
        </p:nvPicPr>
        <p:blipFill>
          <a:blip r:embed="rId4"/>
          <a:stretch>
            <a:fillRect/>
          </a:stretch>
        </p:blipFill>
        <p:spPr>
          <a:xfrm>
            <a:off x="5791200" y="2152650"/>
            <a:ext cx="2540000" cy="2838450"/>
          </a:xfrm>
          <a:prstGeom prst="rect">
            <a:avLst/>
          </a:prstGeom>
        </p:spPr>
      </p:pic>
      <p:pic>
        <p:nvPicPr>
          <p:cNvPr id="15" name="Image 4" descr="/tmp/claude-0/-home-claude/7d06284d-c71b-56e0-9fd5-4b6c44927ce3/scratchpad/pptx/img/payments.png">    </p:cNvPr>
          <p:cNvPicPr>
            <a:picLocks noChangeAspect="1"/>
          </p:cNvPicPr>
          <p:nvPr/>
        </p:nvPicPr>
        <p:blipFill>
          <a:blip r:embed="rId5"/>
          <a:stretch>
            <a:fillRect/>
          </a:stretch>
        </p:blipFill>
        <p:spPr>
          <a:xfrm>
            <a:off x="8585200" y="2152650"/>
            <a:ext cx="2540000" cy="2565400"/>
          </a:xfrm>
          <a:prstGeom prst="rect">
            <a:avLst/>
          </a:prstGeom>
        </p:spPr>
      </p:pic>
      <p:sp>
        <p:nvSpPr>
          <p:cNvPr id="16" name="Text 9"/>
          <p:cNvSpPr txBox="1"/>
          <p:nvPr/>
        </p:nvSpPr>
        <p:spPr>
          <a:xfrm>
            <a:off x="5791200" y="5092700"/>
            <a:ext cx="2540000" cy="215900"/>
          </a:xfrm>
          <a:prstGeom prst="rect">
            <a:avLst/>
          </a:prstGeom>
          <a:noFill/>
          <a:ln/>
        </p:spPr>
        <p:txBody>
          <a:bodyPr wrap="square" lIns="0" tIns="0" rIns="0" bIns="0" rtlCol="0" anchor="t"/>
          <a:lstStyle/>
          <a:p>
            <a:pPr algn="ctr" indent="0" marL="0">
              <a:lnSpc>
                <a:spcPct val="120000"/>
              </a:lnSpc>
              <a:buNone/>
            </a:pPr>
            <a:r>
              <a:rPr lang="en-US" sz="1200" b="1" dirty="0">
                <a:solidFill>
                  <a:srgbClr val="5E6673"/>
                </a:solidFill>
                <a:latin typeface="Nunito Sans" pitchFamily="34" charset="0"/>
                <a:ea typeface="Nunito Sans" pitchFamily="34" charset="-122"/>
                <a:cs typeface="Nunito Sans" pitchFamily="34" charset="-120"/>
              </a:rPr>
              <a:t>Bookings tab</a:t>
            </a:r>
            <a:endParaRPr lang="en-US" sz="1200" dirty="0"/>
          </a:p>
        </p:txBody>
      </p:sp>
      <p:sp>
        <p:nvSpPr>
          <p:cNvPr id="17" name="Text 10"/>
          <p:cNvSpPr txBox="1"/>
          <p:nvPr/>
        </p:nvSpPr>
        <p:spPr>
          <a:xfrm>
            <a:off x="8585200" y="4819650"/>
            <a:ext cx="2540000" cy="215900"/>
          </a:xfrm>
          <a:prstGeom prst="rect">
            <a:avLst/>
          </a:prstGeom>
          <a:noFill/>
          <a:ln/>
        </p:spPr>
        <p:txBody>
          <a:bodyPr wrap="square" lIns="0" tIns="0" rIns="0" bIns="0" rtlCol="0" anchor="t"/>
          <a:lstStyle/>
          <a:p>
            <a:pPr algn="ctr" indent="0" marL="0">
              <a:lnSpc>
                <a:spcPct val="120000"/>
              </a:lnSpc>
              <a:buNone/>
            </a:pPr>
            <a:r>
              <a:rPr lang="en-US" sz="1200" b="1" dirty="0">
                <a:solidFill>
                  <a:srgbClr val="5E6673"/>
                </a:solidFill>
                <a:latin typeface="Nunito Sans" pitchFamily="34" charset="0"/>
                <a:ea typeface="Nunito Sans" pitchFamily="34" charset="-122"/>
                <a:cs typeface="Nunito Sans" pitchFamily="34" charset="-120"/>
              </a:rPr>
              <a:t>Payments tab</a:t>
            </a:r>
            <a:endParaRPr lang="en-US" sz="1200" dirty="0"/>
          </a:p>
        </p:txBody>
      </p:sp>
      <p:sp>
        <p:nvSpPr>
          <p:cNvPr id="18" name="Text 11"/>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19" name="Text 12"/>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8DA"/>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96401A"/>
                </a:solidFill>
                <a:latin typeface="Nunito Sans" pitchFamily="34" charset="0"/>
                <a:ea typeface="Nunito Sans" pitchFamily="34" charset="-122"/>
                <a:cs typeface="Nunito Sans" pitchFamily="34" charset="-120"/>
              </a:rPr>
              <a:t>FOR THE RESORT TEAM · SETUP</a:t>
            </a:r>
            <a:endParaRPr lang="en-US" sz="13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Manage rooms, calendar and staff</a:t>
            </a:r>
            <a:endParaRPr lang="en-US" sz="3600" dirty="0"/>
          </a:p>
        </p:txBody>
      </p:sp>
      <p:sp>
        <p:nvSpPr>
          <p:cNvPr id="4" name="Shape 2"/>
          <p:cNvSpPr/>
          <p:nvPr/>
        </p:nvSpPr>
        <p:spPr>
          <a:xfrm>
            <a:off x="812800" y="1898650"/>
            <a:ext cx="4826000" cy="3943350"/>
          </a:xfrm>
          <a:prstGeom prst="roundRect">
            <a:avLst>
              <a:gd name="adj" fmla="val 1046"/>
            </a:avLst>
          </a:prstGeom>
          <a:solidFill>
            <a:srgbClr val="FFFDF9"/>
          </a:solidFill>
          <a:ln/>
        </p:spPr>
      </p:sp>
      <p:pic>
        <p:nvPicPr>
          <p:cNvPr id="5" name="Image 0" descr="/tmp/claude-0/-home-claude/7d06284d-c71b-56e0-9fd5-4b6c44927ce3/scratchpad/pptx/img/rooms.png">    </p:cNvPr>
          <p:cNvPicPr>
            <a:picLocks noChangeAspect="1"/>
          </p:cNvPicPr>
          <p:nvPr/>
        </p:nvPicPr>
        <p:blipFill>
          <a:blip r:embed="rId1"/>
          <a:stretch>
            <a:fillRect/>
          </a:stretch>
        </p:blipFill>
        <p:spPr>
          <a:xfrm>
            <a:off x="1441450" y="2108200"/>
            <a:ext cx="1663700" cy="3517900"/>
          </a:xfrm>
          <a:prstGeom prst="rect">
            <a:avLst/>
          </a:prstGeom>
        </p:spPr>
      </p:pic>
      <p:pic>
        <p:nvPicPr>
          <p:cNvPr id="6" name="Image 1" descr="/tmp/claude-0/-home-claude/7d06284d-c71b-56e0-9fd5-4b6c44927ce3/scratchpad/pptx/img/calendar.png">    </p:cNvPr>
          <p:cNvPicPr>
            <a:picLocks noChangeAspect="1"/>
          </p:cNvPicPr>
          <p:nvPr/>
        </p:nvPicPr>
        <p:blipFill>
          <a:blip r:embed="rId2"/>
          <a:stretch>
            <a:fillRect/>
          </a:stretch>
        </p:blipFill>
        <p:spPr>
          <a:xfrm>
            <a:off x="3359150" y="2101850"/>
            <a:ext cx="1638300" cy="3530600"/>
          </a:xfrm>
          <a:prstGeom prst="rect">
            <a:avLst/>
          </a:prstGeom>
        </p:spPr>
      </p:pic>
      <p:pic>
        <p:nvPicPr>
          <p:cNvPr id="7" name="Image 2" descr="preencoded.png">    </p:cNvPr>
          <p:cNvPicPr>
            <a:picLocks noChangeAspect="1"/>
          </p:cNvPicPr>
          <p:nvPr/>
        </p:nvPicPr>
        <p:blipFill>
          <a:blip r:embed="rId3"/>
          <a:stretch>
            <a:fillRect/>
          </a:stretch>
        </p:blipFill>
        <p:spPr>
          <a:xfrm>
            <a:off x="6045200" y="1968500"/>
            <a:ext cx="304800" cy="304800"/>
          </a:xfrm>
          <a:prstGeom prst="rect">
            <a:avLst/>
          </a:prstGeom>
        </p:spPr>
      </p:pic>
      <p:sp>
        <p:nvSpPr>
          <p:cNvPr id="8" name="Text 3"/>
          <p:cNvSpPr txBox="1"/>
          <p:nvPr/>
        </p:nvSpPr>
        <p:spPr>
          <a:xfrm>
            <a:off x="6502400" y="1968500"/>
            <a:ext cx="48768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Rooms in a few taps</a:t>
            </a:r>
            <a:endParaRPr lang="en-US" sz="1600" dirty="0"/>
          </a:p>
        </p:txBody>
      </p:sp>
      <p:sp>
        <p:nvSpPr>
          <p:cNvPr id="9" name="Text 4"/>
          <p:cNvSpPr txBox="1"/>
          <p:nvPr/>
        </p:nvSpPr>
        <p:spPr>
          <a:xfrm>
            <a:off x="6502400" y="2260600"/>
            <a:ext cx="48768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Add or edit rooms, set the nightly price, and add photos from the camera or gallery.</a:t>
            </a:r>
            <a:endParaRPr lang="en-US" sz="1300" dirty="0"/>
          </a:p>
        </p:txBody>
      </p:sp>
      <p:pic>
        <p:nvPicPr>
          <p:cNvPr id="10" name="Image 3" descr="preencoded.png">    </p:cNvPr>
          <p:cNvPicPr>
            <a:picLocks noChangeAspect="1"/>
          </p:cNvPicPr>
          <p:nvPr/>
        </p:nvPicPr>
        <p:blipFill>
          <a:blip r:embed="rId4"/>
          <a:stretch>
            <a:fillRect/>
          </a:stretch>
        </p:blipFill>
        <p:spPr>
          <a:xfrm>
            <a:off x="6045200" y="2921000"/>
            <a:ext cx="304800" cy="304800"/>
          </a:xfrm>
          <a:prstGeom prst="rect">
            <a:avLst/>
          </a:prstGeom>
        </p:spPr>
      </p:pic>
      <p:sp>
        <p:nvSpPr>
          <p:cNvPr id="11" name="Text 5"/>
          <p:cNvSpPr txBox="1"/>
          <p:nvPr/>
        </p:nvSpPr>
        <p:spPr>
          <a:xfrm>
            <a:off x="6502400" y="2921000"/>
            <a:ext cx="48768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Maintenance switch</a:t>
            </a:r>
            <a:endParaRPr lang="en-US" sz="1600" dirty="0"/>
          </a:p>
        </p:txBody>
      </p:sp>
      <p:sp>
        <p:nvSpPr>
          <p:cNvPr id="12" name="Text 6"/>
          <p:cNvSpPr txBox="1"/>
          <p:nvPr/>
        </p:nvSpPr>
        <p:spPr>
          <a:xfrm>
            <a:off x="6502400" y="3213100"/>
            <a:ext cx="48768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Flip it and the room disappears from guest search until it is ready again.</a:t>
            </a:r>
            <a:endParaRPr lang="en-US" sz="1300" dirty="0"/>
          </a:p>
        </p:txBody>
      </p:sp>
      <p:pic>
        <p:nvPicPr>
          <p:cNvPr id="13" name="Image 4" descr="preencoded.png">    </p:cNvPr>
          <p:cNvPicPr>
            <a:picLocks noChangeAspect="1"/>
          </p:cNvPicPr>
          <p:nvPr/>
        </p:nvPicPr>
        <p:blipFill>
          <a:blip r:embed="rId5"/>
          <a:stretch>
            <a:fillRect/>
          </a:stretch>
        </p:blipFill>
        <p:spPr>
          <a:xfrm>
            <a:off x="6045200" y="3873500"/>
            <a:ext cx="304800" cy="304800"/>
          </a:xfrm>
          <a:prstGeom prst="rect">
            <a:avLst/>
          </a:prstGeom>
        </p:spPr>
      </p:pic>
      <p:sp>
        <p:nvSpPr>
          <p:cNvPr id="14" name="Text 7"/>
          <p:cNvSpPr txBox="1"/>
          <p:nvPr/>
        </p:nvSpPr>
        <p:spPr>
          <a:xfrm>
            <a:off x="6502400" y="3873500"/>
            <a:ext cx="48768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Month calendar</a:t>
            </a:r>
            <a:endParaRPr lang="en-US" sz="1600" dirty="0"/>
          </a:p>
        </p:txBody>
      </p:sp>
      <p:sp>
        <p:nvSpPr>
          <p:cNvPr id="15" name="Text 8"/>
          <p:cNvSpPr txBox="1"/>
          <p:nvPr/>
        </p:nvSpPr>
        <p:spPr>
          <a:xfrm>
            <a:off x="6502400" y="4165600"/>
            <a:ext cx="48768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See which rooms are booked each day; tap a day for the guest and room details.</a:t>
            </a:r>
            <a:endParaRPr lang="en-US" sz="1300" dirty="0"/>
          </a:p>
        </p:txBody>
      </p:sp>
      <p:pic>
        <p:nvPicPr>
          <p:cNvPr id="16" name="Image 5" descr="preencoded.png">    </p:cNvPr>
          <p:cNvPicPr>
            <a:picLocks noChangeAspect="1"/>
          </p:cNvPicPr>
          <p:nvPr/>
        </p:nvPicPr>
        <p:blipFill>
          <a:blip r:embed="rId6"/>
          <a:stretch>
            <a:fillRect/>
          </a:stretch>
        </p:blipFill>
        <p:spPr>
          <a:xfrm>
            <a:off x="6045200" y="4826000"/>
            <a:ext cx="304800" cy="304800"/>
          </a:xfrm>
          <a:prstGeom prst="rect">
            <a:avLst/>
          </a:prstGeom>
        </p:spPr>
      </p:pic>
      <p:sp>
        <p:nvSpPr>
          <p:cNvPr id="17" name="Text 9"/>
          <p:cNvSpPr txBox="1"/>
          <p:nvPr/>
        </p:nvSpPr>
        <p:spPr>
          <a:xfrm>
            <a:off x="6502400" y="4826000"/>
            <a:ext cx="48768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Staff and access</a:t>
            </a:r>
            <a:endParaRPr lang="en-US" sz="1600" dirty="0"/>
          </a:p>
        </p:txBody>
      </p:sp>
      <p:sp>
        <p:nvSpPr>
          <p:cNvPr id="18" name="Text 10"/>
          <p:cNvSpPr txBox="1"/>
          <p:nvPr/>
        </p:nvSpPr>
        <p:spPr>
          <a:xfrm>
            <a:off x="6502400" y="5118100"/>
            <a:ext cx="4876800" cy="4826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Admins create or remove staff and admin accounts. Staff handle the daily work.</a:t>
            </a:r>
            <a:endParaRPr lang="en-US" sz="1300" dirty="0"/>
          </a:p>
        </p:txBody>
      </p:sp>
      <p:sp>
        <p:nvSpPr>
          <p:cNvPr id="19" name="Text 11"/>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20" name="Text 12"/>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347"/>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F2A23A"/>
                </a:solidFill>
                <a:latin typeface="Nunito Sans" pitchFamily="34" charset="0"/>
                <a:ea typeface="Nunito Sans" pitchFamily="34" charset="-122"/>
                <a:cs typeface="Nunito Sans" pitchFamily="34" charset="-120"/>
              </a:rPr>
              <a:t>FOR THE OWNER</a:t>
            </a:r>
            <a:endParaRPr lang="en-US" sz="13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algn="l" indent="0" marL="0">
              <a:lnSpc>
                <a:spcPct val="105000"/>
              </a:lnSpc>
              <a:buNone/>
            </a:pPr>
            <a:r>
              <a:rPr lang="en-US" sz="3600" b="1" dirty="0">
                <a:solidFill>
                  <a:srgbClr val="FAF6EF"/>
                </a:solidFill>
                <a:latin typeface="Fredoka" pitchFamily="34" charset="0"/>
                <a:ea typeface="Fredoka" pitchFamily="34" charset="-122"/>
                <a:cs typeface="Fredoka" pitchFamily="34" charset="-120"/>
              </a:rPr>
              <a:t>See how the resort is doing, live</a:t>
            </a:r>
            <a:endParaRPr lang="en-US" sz="3600" dirty="0"/>
          </a:p>
        </p:txBody>
      </p:sp>
      <p:pic>
        <p:nvPicPr>
          <p:cNvPr id="4" name="Image 0" descr="/tmp/claude-0/-home-claude/7d06284d-c71b-56e0-9fd5-4b6c44927ce3/scratchpad/pptx/img/dashboard.png">    </p:cNvPr>
          <p:cNvPicPr>
            <a:picLocks noChangeAspect="1"/>
          </p:cNvPicPr>
          <p:nvPr/>
        </p:nvPicPr>
        <p:blipFill>
          <a:blip r:embed="rId1"/>
          <a:stretch>
            <a:fillRect/>
          </a:stretch>
        </p:blipFill>
        <p:spPr>
          <a:xfrm>
            <a:off x="812800" y="1898650"/>
            <a:ext cx="2794000" cy="3676650"/>
          </a:xfrm>
          <a:prstGeom prst="rect">
            <a:avLst/>
          </a:prstGeom>
        </p:spPr>
      </p:pic>
      <p:sp>
        <p:nvSpPr>
          <p:cNvPr id="5" name="Shape 2"/>
          <p:cNvSpPr/>
          <p:nvPr/>
        </p:nvSpPr>
        <p:spPr>
          <a:xfrm>
            <a:off x="4013200" y="1898650"/>
            <a:ext cx="3606800" cy="1238250"/>
          </a:xfrm>
          <a:prstGeom prst="roundRect">
            <a:avLst>
              <a:gd name="adj" fmla="val 9089"/>
            </a:avLst>
          </a:prstGeom>
          <a:solidFill>
            <a:srgbClr val="2A4560"/>
          </a:solidFill>
          <a:ln/>
        </p:spPr>
      </p:sp>
      <p:pic>
        <p:nvPicPr>
          <p:cNvPr id="6" name="Image 1" descr="preencoded.png">    </p:cNvPr>
          <p:cNvPicPr>
            <a:picLocks noChangeAspect="1"/>
          </p:cNvPicPr>
          <p:nvPr/>
        </p:nvPicPr>
        <p:blipFill>
          <a:blip r:embed="rId2"/>
          <a:stretch>
            <a:fillRect/>
          </a:stretch>
        </p:blipFill>
        <p:spPr>
          <a:xfrm>
            <a:off x="4216400" y="2101850"/>
            <a:ext cx="304800" cy="304800"/>
          </a:xfrm>
          <a:prstGeom prst="rect">
            <a:avLst/>
          </a:prstGeom>
        </p:spPr>
      </p:pic>
      <p:sp>
        <p:nvSpPr>
          <p:cNvPr id="7" name="Text 3"/>
          <p:cNvSpPr txBox="1"/>
          <p:nvPr/>
        </p:nvSpPr>
        <p:spPr>
          <a:xfrm>
            <a:off x="4622800" y="2089150"/>
            <a:ext cx="2794000" cy="330200"/>
          </a:xfrm>
          <a:prstGeom prst="rect">
            <a:avLst/>
          </a:prstGeom>
          <a:noFill/>
          <a:ln/>
        </p:spPr>
        <p:txBody>
          <a:bodyPr wrap="square" lIns="0" tIns="0" rIns="0" bIns="0" rtlCol="0" anchor="ctr"/>
          <a:lstStyle/>
          <a:p>
            <a:pPr algn="l" indent="0" marL="0">
              <a:lnSpc>
                <a:spcPct val="120000"/>
              </a:lnSpc>
              <a:buNone/>
            </a:pPr>
            <a:r>
              <a:rPr lang="en-US" sz="2000" b="1" dirty="0">
                <a:solidFill>
                  <a:srgbClr val="FAF6EF"/>
                </a:solidFill>
                <a:latin typeface="Fredoka" pitchFamily="34" charset="0"/>
                <a:ea typeface="Fredoka" pitchFamily="34" charset="-122"/>
                <a:cs typeface="Fredoka" pitchFamily="34" charset="-120"/>
              </a:rPr>
              <a:t>Total revenue</a:t>
            </a:r>
            <a:endParaRPr lang="en-US" sz="2000" dirty="0"/>
          </a:p>
        </p:txBody>
      </p:sp>
      <p:sp>
        <p:nvSpPr>
          <p:cNvPr id="8" name="Text 4"/>
          <p:cNvSpPr txBox="1"/>
          <p:nvPr/>
        </p:nvSpPr>
        <p:spPr>
          <a:xfrm>
            <a:off x="4216400" y="2508250"/>
            <a:ext cx="3200400" cy="508000"/>
          </a:xfrm>
          <a:prstGeom prst="rect">
            <a:avLst/>
          </a:prstGeom>
          <a:noFill/>
          <a:ln/>
        </p:spPr>
        <p:txBody>
          <a:bodyPr wrap="square" lIns="0" tIns="0" rIns="0" bIns="0" rtlCol="0" anchor="t"/>
          <a:lstStyle/>
          <a:p>
            <a:pPr algn="l" indent="0" marL="0">
              <a:lnSpc>
                <a:spcPct val="135000"/>
              </a:lnSpc>
              <a:buNone/>
            </a:pPr>
            <a:r>
              <a:rPr lang="en-US" sz="1300" dirty="0">
                <a:solidFill>
                  <a:srgbClr val="C9D4DE"/>
                </a:solidFill>
                <a:latin typeface="Nunito Sans" pitchFamily="34" charset="0"/>
                <a:ea typeface="Nunito Sans" pitchFamily="34" charset="-122"/>
                <a:cs typeface="Nunito Sans" pitchFamily="34" charset="-120"/>
              </a:rPr>
              <a:t>Added up from every paid booking.</a:t>
            </a:r>
            <a:endParaRPr lang="en-US" sz="1300" dirty="0"/>
          </a:p>
        </p:txBody>
      </p:sp>
      <p:sp>
        <p:nvSpPr>
          <p:cNvPr id="9" name="Shape 5"/>
          <p:cNvSpPr/>
          <p:nvPr/>
        </p:nvSpPr>
        <p:spPr>
          <a:xfrm>
            <a:off x="7772400" y="1898650"/>
            <a:ext cx="3606800" cy="1238250"/>
          </a:xfrm>
          <a:prstGeom prst="roundRect">
            <a:avLst>
              <a:gd name="adj" fmla="val 9089"/>
            </a:avLst>
          </a:prstGeom>
          <a:solidFill>
            <a:srgbClr val="2A4560"/>
          </a:solidFill>
          <a:ln/>
        </p:spPr>
      </p:sp>
      <p:pic>
        <p:nvPicPr>
          <p:cNvPr id="10" name="Image 2" descr="preencoded.png">    </p:cNvPr>
          <p:cNvPicPr>
            <a:picLocks noChangeAspect="1"/>
          </p:cNvPicPr>
          <p:nvPr/>
        </p:nvPicPr>
        <p:blipFill>
          <a:blip r:embed="rId3"/>
          <a:stretch>
            <a:fillRect/>
          </a:stretch>
        </p:blipFill>
        <p:spPr>
          <a:xfrm>
            <a:off x="7975600" y="2101850"/>
            <a:ext cx="304800" cy="304800"/>
          </a:xfrm>
          <a:prstGeom prst="rect">
            <a:avLst/>
          </a:prstGeom>
        </p:spPr>
      </p:pic>
      <p:sp>
        <p:nvSpPr>
          <p:cNvPr id="11" name="Text 6"/>
          <p:cNvSpPr txBox="1"/>
          <p:nvPr/>
        </p:nvSpPr>
        <p:spPr>
          <a:xfrm>
            <a:off x="8382000" y="2089150"/>
            <a:ext cx="2794000" cy="330200"/>
          </a:xfrm>
          <a:prstGeom prst="rect">
            <a:avLst/>
          </a:prstGeom>
          <a:noFill/>
          <a:ln/>
        </p:spPr>
        <p:txBody>
          <a:bodyPr wrap="square" lIns="0" tIns="0" rIns="0" bIns="0" rtlCol="0" anchor="ctr"/>
          <a:lstStyle/>
          <a:p>
            <a:pPr algn="l" indent="0" marL="0">
              <a:lnSpc>
                <a:spcPct val="120000"/>
              </a:lnSpc>
              <a:buNone/>
            </a:pPr>
            <a:r>
              <a:rPr lang="en-US" sz="2000" b="1" dirty="0">
                <a:solidFill>
                  <a:srgbClr val="FAF6EF"/>
                </a:solidFill>
                <a:latin typeface="Fredoka" pitchFamily="34" charset="0"/>
                <a:ea typeface="Fredoka" pitchFamily="34" charset="-122"/>
                <a:cs typeface="Fredoka" pitchFamily="34" charset="-120"/>
              </a:rPr>
              <a:t>Total bookings</a:t>
            </a:r>
            <a:endParaRPr lang="en-US" sz="2000" dirty="0"/>
          </a:p>
        </p:txBody>
      </p:sp>
      <p:sp>
        <p:nvSpPr>
          <p:cNvPr id="12" name="Text 7"/>
          <p:cNvSpPr txBox="1"/>
          <p:nvPr/>
        </p:nvSpPr>
        <p:spPr>
          <a:xfrm>
            <a:off x="7975600" y="2508250"/>
            <a:ext cx="3200400" cy="508000"/>
          </a:xfrm>
          <a:prstGeom prst="rect">
            <a:avLst/>
          </a:prstGeom>
          <a:noFill/>
          <a:ln/>
        </p:spPr>
        <p:txBody>
          <a:bodyPr wrap="square" lIns="0" tIns="0" rIns="0" bIns="0" rtlCol="0" anchor="t"/>
          <a:lstStyle/>
          <a:p>
            <a:pPr algn="l" indent="0" marL="0">
              <a:lnSpc>
                <a:spcPct val="135000"/>
              </a:lnSpc>
              <a:buNone/>
            </a:pPr>
            <a:r>
              <a:rPr lang="en-US" sz="1300" dirty="0">
                <a:solidFill>
                  <a:srgbClr val="C9D4DE"/>
                </a:solidFill>
                <a:latin typeface="Nunito Sans" pitchFamily="34" charset="0"/>
                <a:ea typeface="Nunito Sans" pitchFamily="34" charset="-122"/>
                <a:cs typeface="Nunito Sans" pitchFamily="34" charset="-120"/>
              </a:rPr>
              <a:t>Every reservation, in one count.</a:t>
            </a:r>
            <a:endParaRPr lang="en-US" sz="1300" dirty="0"/>
          </a:p>
        </p:txBody>
      </p:sp>
      <p:sp>
        <p:nvSpPr>
          <p:cNvPr id="13" name="Shape 8"/>
          <p:cNvSpPr/>
          <p:nvPr/>
        </p:nvSpPr>
        <p:spPr>
          <a:xfrm>
            <a:off x="4013200" y="3289300"/>
            <a:ext cx="3606800" cy="1238250"/>
          </a:xfrm>
          <a:prstGeom prst="roundRect">
            <a:avLst>
              <a:gd name="adj" fmla="val 9089"/>
            </a:avLst>
          </a:prstGeom>
          <a:solidFill>
            <a:srgbClr val="2A4560"/>
          </a:solidFill>
          <a:ln/>
        </p:spPr>
      </p:sp>
      <p:pic>
        <p:nvPicPr>
          <p:cNvPr id="14" name="Image 3" descr="preencoded.png">    </p:cNvPr>
          <p:cNvPicPr>
            <a:picLocks noChangeAspect="1"/>
          </p:cNvPicPr>
          <p:nvPr/>
        </p:nvPicPr>
        <p:blipFill>
          <a:blip r:embed="rId4"/>
          <a:stretch>
            <a:fillRect/>
          </a:stretch>
        </p:blipFill>
        <p:spPr>
          <a:xfrm>
            <a:off x="4216400" y="3492500"/>
            <a:ext cx="304800" cy="304800"/>
          </a:xfrm>
          <a:prstGeom prst="rect">
            <a:avLst/>
          </a:prstGeom>
        </p:spPr>
      </p:pic>
      <p:sp>
        <p:nvSpPr>
          <p:cNvPr id="15" name="Text 9"/>
          <p:cNvSpPr txBox="1"/>
          <p:nvPr/>
        </p:nvSpPr>
        <p:spPr>
          <a:xfrm>
            <a:off x="4622800" y="3479800"/>
            <a:ext cx="2794000" cy="330200"/>
          </a:xfrm>
          <a:prstGeom prst="rect">
            <a:avLst/>
          </a:prstGeom>
          <a:noFill/>
          <a:ln/>
        </p:spPr>
        <p:txBody>
          <a:bodyPr wrap="square" lIns="0" tIns="0" rIns="0" bIns="0" rtlCol="0" anchor="ctr"/>
          <a:lstStyle/>
          <a:p>
            <a:pPr algn="l" indent="0" marL="0">
              <a:lnSpc>
                <a:spcPct val="120000"/>
              </a:lnSpc>
              <a:buNone/>
            </a:pPr>
            <a:r>
              <a:rPr lang="en-US" sz="2000" b="1" dirty="0">
                <a:solidFill>
                  <a:srgbClr val="FAF6EF"/>
                </a:solidFill>
                <a:latin typeface="Fredoka" pitchFamily="34" charset="0"/>
                <a:ea typeface="Fredoka" pitchFamily="34" charset="-122"/>
                <a:cs typeface="Fredoka" pitchFamily="34" charset="-120"/>
              </a:rPr>
              <a:t>Pending approval</a:t>
            </a:r>
            <a:endParaRPr lang="en-US" sz="2000" dirty="0"/>
          </a:p>
        </p:txBody>
      </p:sp>
      <p:sp>
        <p:nvSpPr>
          <p:cNvPr id="16" name="Text 10"/>
          <p:cNvSpPr txBox="1"/>
          <p:nvPr/>
        </p:nvSpPr>
        <p:spPr>
          <a:xfrm>
            <a:off x="4216400" y="3898900"/>
            <a:ext cx="3200400" cy="508000"/>
          </a:xfrm>
          <a:prstGeom prst="rect">
            <a:avLst/>
          </a:prstGeom>
          <a:noFill/>
          <a:ln/>
        </p:spPr>
        <p:txBody>
          <a:bodyPr wrap="square" lIns="0" tIns="0" rIns="0" bIns="0" rtlCol="0" anchor="t"/>
          <a:lstStyle/>
          <a:p>
            <a:pPr algn="l" indent="0" marL="0">
              <a:lnSpc>
                <a:spcPct val="135000"/>
              </a:lnSpc>
              <a:buNone/>
            </a:pPr>
            <a:r>
              <a:rPr lang="en-US" sz="1300" dirty="0">
                <a:solidFill>
                  <a:srgbClr val="C9D4DE"/>
                </a:solidFill>
                <a:latin typeface="Nunito Sans" pitchFamily="34" charset="0"/>
                <a:ea typeface="Nunito Sans" pitchFamily="34" charset="-122"/>
                <a:cs typeface="Nunito Sans" pitchFamily="34" charset="-120"/>
              </a:rPr>
              <a:t>What still needs the team's attention.</a:t>
            </a:r>
            <a:endParaRPr lang="en-US" sz="1300" dirty="0"/>
          </a:p>
        </p:txBody>
      </p:sp>
      <p:sp>
        <p:nvSpPr>
          <p:cNvPr id="17" name="Shape 11"/>
          <p:cNvSpPr/>
          <p:nvPr/>
        </p:nvSpPr>
        <p:spPr>
          <a:xfrm>
            <a:off x="7772400" y="3289300"/>
            <a:ext cx="3606800" cy="1238250"/>
          </a:xfrm>
          <a:prstGeom prst="roundRect">
            <a:avLst>
              <a:gd name="adj" fmla="val 9089"/>
            </a:avLst>
          </a:prstGeom>
          <a:solidFill>
            <a:srgbClr val="2A4560"/>
          </a:solidFill>
          <a:ln/>
        </p:spPr>
      </p:sp>
      <p:pic>
        <p:nvPicPr>
          <p:cNvPr id="18" name="Image 4" descr="preencoded.png">    </p:cNvPr>
          <p:cNvPicPr>
            <a:picLocks noChangeAspect="1"/>
          </p:cNvPicPr>
          <p:nvPr/>
        </p:nvPicPr>
        <p:blipFill>
          <a:blip r:embed="rId5"/>
          <a:stretch>
            <a:fillRect/>
          </a:stretch>
        </p:blipFill>
        <p:spPr>
          <a:xfrm>
            <a:off x="7975600" y="3492500"/>
            <a:ext cx="304800" cy="304800"/>
          </a:xfrm>
          <a:prstGeom prst="rect">
            <a:avLst/>
          </a:prstGeom>
        </p:spPr>
      </p:pic>
      <p:sp>
        <p:nvSpPr>
          <p:cNvPr id="19" name="Text 12"/>
          <p:cNvSpPr txBox="1"/>
          <p:nvPr/>
        </p:nvSpPr>
        <p:spPr>
          <a:xfrm>
            <a:off x="8382000" y="3479800"/>
            <a:ext cx="2794000" cy="330200"/>
          </a:xfrm>
          <a:prstGeom prst="rect">
            <a:avLst/>
          </a:prstGeom>
          <a:noFill/>
          <a:ln/>
        </p:spPr>
        <p:txBody>
          <a:bodyPr wrap="square" lIns="0" tIns="0" rIns="0" bIns="0" rtlCol="0" anchor="ctr"/>
          <a:lstStyle/>
          <a:p>
            <a:pPr algn="l" indent="0" marL="0">
              <a:lnSpc>
                <a:spcPct val="120000"/>
              </a:lnSpc>
              <a:buNone/>
            </a:pPr>
            <a:r>
              <a:rPr lang="en-US" sz="2000" b="1" dirty="0">
                <a:solidFill>
                  <a:srgbClr val="FAF6EF"/>
                </a:solidFill>
                <a:latin typeface="Fredoka" pitchFamily="34" charset="0"/>
                <a:ea typeface="Fredoka" pitchFamily="34" charset="-122"/>
                <a:cs typeface="Fredoka" pitchFamily="34" charset="-120"/>
              </a:rPr>
              <a:t>Occupancy</a:t>
            </a:r>
            <a:endParaRPr lang="en-US" sz="2000" dirty="0"/>
          </a:p>
        </p:txBody>
      </p:sp>
      <p:sp>
        <p:nvSpPr>
          <p:cNvPr id="20" name="Text 13"/>
          <p:cNvSpPr txBox="1"/>
          <p:nvPr/>
        </p:nvSpPr>
        <p:spPr>
          <a:xfrm>
            <a:off x="7975600" y="3898900"/>
            <a:ext cx="3200400" cy="508000"/>
          </a:xfrm>
          <a:prstGeom prst="rect">
            <a:avLst/>
          </a:prstGeom>
          <a:noFill/>
          <a:ln/>
        </p:spPr>
        <p:txBody>
          <a:bodyPr wrap="square" lIns="0" tIns="0" rIns="0" bIns="0" rtlCol="0" anchor="t"/>
          <a:lstStyle/>
          <a:p>
            <a:pPr algn="l" indent="0" marL="0">
              <a:lnSpc>
                <a:spcPct val="135000"/>
              </a:lnSpc>
              <a:buNone/>
            </a:pPr>
            <a:r>
              <a:rPr lang="en-US" sz="1300" dirty="0">
                <a:solidFill>
                  <a:srgbClr val="C9D4DE"/>
                </a:solidFill>
                <a:latin typeface="Nunito Sans" pitchFamily="34" charset="0"/>
                <a:ea typeface="Nunito Sans" pitchFamily="34" charset="-122"/>
                <a:cs typeface="Nunito Sans" pitchFamily="34" charset="-120"/>
              </a:rPr>
              <a:t>Share of room-nights booked over the next 30 days.</a:t>
            </a:r>
            <a:endParaRPr lang="en-US" sz="1300" dirty="0"/>
          </a:p>
        </p:txBody>
      </p:sp>
      <p:sp>
        <p:nvSpPr>
          <p:cNvPr id="21" name="Text 14"/>
          <p:cNvSpPr txBox="1"/>
          <p:nvPr/>
        </p:nvSpPr>
        <p:spPr>
          <a:xfrm>
            <a:off x="4013200" y="4889500"/>
            <a:ext cx="7366000" cy="635000"/>
          </a:xfrm>
          <a:prstGeom prst="rect">
            <a:avLst/>
          </a:prstGeom>
          <a:noFill/>
          <a:ln/>
        </p:spPr>
        <p:txBody>
          <a:bodyPr wrap="square" lIns="0" tIns="0" rIns="0" bIns="0" rtlCol="0" anchor="t"/>
          <a:lstStyle/>
          <a:p>
            <a:pPr indent="0" marL="0">
              <a:lnSpc>
                <a:spcPct val="130000"/>
              </a:lnSpc>
              <a:buNone/>
            </a:pPr>
            <a:r>
              <a:rPr lang="en-US" sz="1600" dirty="0">
                <a:solidFill>
                  <a:srgbClr val="E3E9EE"/>
                </a:solidFill>
                <a:latin typeface="Nunito Sans" pitchFamily="34" charset="0"/>
                <a:ea typeface="Nunito Sans" pitchFamily="34" charset="-122"/>
                <a:cs typeface="Nunito Sans" pitchFamily="34" charset="-120"/>
              </a:rPr>
              <a:t>Reports add </a:t>
            </a:r>
            <a:pPr indent="0" marL="0">
              <a:lnSpc>
                <a:spcPct val="130000"/>
              </a:lnSpc>
              <a:buNone/>
            </a:pPr>
            <a:r>
              <a:rPr lang="en-US" sz="1600" dirty="0">
                <a:solidFill>
                  <a:srgbClr val="F2A23A"/>
                </a:solidFill>
                <a:latin typeface="Nunito Sans" pitchFamily="34" charset="0"/>
                <a:ea typeface="Nunito Sans" pitchFamily="34" charset="-122"/>
                <a:cs typeface="Nunito Sans" pitchFamily="34" charset="-120"/>
              </a:rPr>
              <a:t>bookings by status</a:t>
            </a:r>
            <a:pPr indent="0" marL="0">
              <a:lnSpc>
                <a:spcPct val="130000"/>
              </a:lnSpc>
              <a:buNone/>
            </a:pPr>
            <a:r>
              <a:rPr lang="en-US" sz="1600" dirty="0">
                <a:solidFill>
                  <a:srgbClr val="E3E9EE"/>
                </a:solidFill>
                <a:latin typeface="Nunito Sans" pitchFamily="34" charset="0"/>
                <a:ea typeface="Nunito Sans" pitchFamily="34" charset="-122"/>
                <a:cs typeface="Nunito Sans" pitchFamily="34" charset="-120"/>
              </a:rPr>
              <a:t> and a </a:t>
            </a:r>
            <a:pPr indent="0" marL="0">
              <a:lnSpc>
                <a:spcPct val="130000"/>
              </a:lnSpc>
              <a:buNone/>
            </a:pPr>
            <a:r>
              <a:rPr lang="en-US" sz="1600" dirty="0">
                <a:solidFill>
                  <a:srgbClr val="F2A23A"/>
                </a:solidFill>
                <a:latin typeface="Nunito Sans" pitchFamily="34" charset="0"/>
                <a:ea typeface="Nunito Sans" pitchFamily="34" charset="-122"/>
                <a:cs typeface="Nunito Sans" pitchFamily="34" charset="-120"/>
              </a:rPr>
              <a:t>room inventory</a:t>
            </a:r>
            <a:pPr indent="0" marL="0">
              <a:lnSpc>
                <a:spcPct val="130000"/>
              </a:lnSpc>
              <a:buNone/>
            </a:pPr>
            <a:r>
              <a:rPr lang="en-US" sz="1600" dirty="0">
                <a:solidFill>
                  <a:srgbClr val="E3E9EE"/>
                </a:solidFill>
                <a:latin typeface="Nunito Sans" pitchFamily="34" charset="0"/>
                <a:ea typeface="Nunito Sans" pitchFamily="34" charset="-122"/>
                <a:cs typeface="Nunito Sans" pitchFamily="34" charset="-120"/>
              </a:rPr>
              <a:t>: how many rooms are available and how many are under maintenance.</a:t>
            </a:r>
            <a:endParaRPr lang="en-US" sz="1600" dirty="0"/>
          </a:p>
        </p:txBody>
      </p:sp>
      <p:sp>
        <p:nvSpPr>
          <p:cNvPr id="22" name="Text 15"/>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AAB6C2"/>
                </a:solidFill>
                <a:latin typeface="Nunito Sans" pitchFamily="34" charset="0"/>
                <a:ea typeface="Nunito Sans" pitchFamily="34" charset="-122"/>
                <a:cs typeface="Nunito Sans" pitchFamily="34" charset="-120"/>
              </a:rPr>
              <a:t>Poonsuk Resort · RBMA</a:t>
            </a:r>
            <a:endParaRPr lang="en-US" sz="1200" dirty="0"/>
          </a:p>
        </p:txBody>
      </p:sp>
      <p:sp>
        <p:nvSpPr>
          <p:cNvPr id="23" name="Text 16"/>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AAB6C2"/>
                </a:solidFill>
                <a:latin typeface="Nunito Sans" pitchFamily="34" charset="0"/>
                <a:ea typeface="Nunito Sans" pitchFamily="34" charset="-122"/>
                <a:cs typeface="Nunito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A8451C"/>
                </a:solidFill>
                <a:latin typeface="Nunito Sans" pitchFamily="34" charset="0"/>
                <a:ea typeface="Nunito Sans" pitchFamily="34" charset="-122"/>
                <a:cs typeface="Nunito Sans" pitchFamily="34" charset="-120"/>
              </a:rPr>
              <a:t>BUILT TO BE TRUSTED</a:t>
            </a:r>
            <a:endParaRPr lang="en-US" sz="13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A room is never sold twice</a:t>
            </a:r>
            <a:endParaRPr lang="en-US" sz="3600" dirty="0"/>
          </a:p>
        </p:txBody>
      </p:sp>
      <p:sp>
        <p:nvSpPr>
          <p:cNvPr id="4" name="Shape 2"/>
          <p:cNvSpPr/>
          <p:nvPr/>
        </p:nvSpPr>
        <p:spPr>
          <a:xfrm>
            <a:off x="812800" y="1949450"/>
            <a:ext cx="5181600" cy="1587500"/>
          </a:xfrm>
          <a:prstGeom prst="roundRect">
            <a:avLst>
              <a:gd name="adj" fmla="val 5530"/>
            </a:avLst>
          </a:prstGeom>
          <a:solidFill>
            <a:srgbClr val="FFFDF9"/>
          </a:solidFill>
          <a:ln w="9525">
            <a:solidFill>
              <a:srgbClr val="E6DCCD"/>
            </a:solidFill>
            <a:prstDash val="solid"/>
          </a:ln>
        </p:spPr>
      </p:sp>
      <p:pic>
        <p:nvPicPr>
          <p:cNvPr id="5" name="Image 0" descr="preencoded.png">    </p:cNvPr>
          <p:cNvPicPr>
            <a:picLocks noChangeAspect="1"/>
          </p:cNvPicPr>
          <p:nvPr/>
        </p:nvPicPr>
        <p:blipFill>
          <a:blip r:embed="rId1"/>
          <a:stretch>
            <a:fillRect/>
          </a:stretch>
        </p:blipFill>
        <p:spPr>
          <a:xfrm>
            <a:off x="1066800" y="2203450"/>
            <a:ext cx="406400" cy="406400"/>
          </a:xfrm>
          <a:prstGeom prst="rect">
            <a:avLst/>
          </a:prstGeom>
        </p:spPr>
      </p:pic>
      <p:sp>
        <p:nvSpPr>
          <p:cNvPr id="6" name="Text 3"/>
          <p:cNvSpPr txBox="1"/>
          <p:nvPr/>
        </p:nvSpPr>
        <p:spPr>
          <a:xfrm>
            <a:off x="1651000" y="2203450"/>
            <a:ext cx="40894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No double bookings</a:t>
            </a:r>
            <a:endParaRPr lang="en-US" sz="1600" dirty="0"/>
          </a:p>
        </p:txBody>
      </p:sp>
      <p:sp>
        <p:nvSpPr>
          <p:cNvPr id="7" name="Text 4"/>
          <p:cNvSpPr txBox="1"/>
          <p:nvPr/>
        </p:nvSpPr>
        <p:spPr>
          <a:xfrm>
            <a:off x="1651000" y="2533650"/>
            <a:ext cx="4089400" cy="8890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The system refuses overlapping stays. Tested: two guests booking the same room at the same moment, and exactly one gets it.</a:t>
            </a:r>
            <a:endParaRPr lang="en-US" sz="1300" dirty="0"/>
          </a:p>
        </p:txBody>
      </p:sp>
      <p:sp>
        <p:nvSpPr>
          <p:cNvPr id="8" name="Shape 5"/>
          <p:cNvSpPr/>
          <p:nvPr/>
        </p:nvSpPr>
        <p:spPr>
          <a:xfrm>
            <a:off x="6197600" y="1949450"/>
            <a:ext cx="5181600" cy="1587500"/>
          </a:xfrm>
          <a:prstGeom prst="roundRect">
            <a:avLst>
              <a:gd name="adj" fmla="val 5530"/>
            </a:avLst>
          </a:prstGeom>
          <a:solidFill>
            <a:srgbClr val="FFFDF9"/>
          </a:solidFill>
          <a:ln w="9525">
            <a:solidFill>
              <a:srgbClr val="E6DCCD"/>
            </a:solidFill>
            <a:prstDash val="solid"/>
          </a:ln>
        </p:spPr>
      </p:sp>
      <p:pic>
        <p:nvPicPr>
          <p:cNvPr id="9" name="Image 1" descr="preencoded.png">    </p:cNvPr>
          <p:cNvPicPr>
            <a:picLocks noChangeAspect="1"/>
          </p:cNvPicPr>
          <p:nvPr/>
        </p:nvPicPr>
        <p:blipFill>
          <a:blip r:embed="rId2"/>
          <a:stretch>
            <a:fillRect/>
          </a:stretch>
        </p:blipFill>
        <p:spPr>
          <a:xfrm>
            <a:off x="6451600" y="2203450"/>
            <a:ext cx="406400" cy="406400"/>
          </a:xfrm>
          <a:prstGeom prst="rect">
            <a:avLst/>
          </a:prstGeom>
        </p:spPr>
      </p:pic>
      <p:sp>
        <p:nvSpPr>
          <p:cNvPr id="10" name="Text 6"/>
          <p:cNvSpPr txBox="1"/>
          <p:nvPr/>
        </p:nvSpPr>
        <p:spPr>
          <a:xfrm>
            <a:off x="7035800" y="2203450"/>
            <a:ext cx="40894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Prices you can trust</a:t>
            </a:r>
            <a:endParaRPr lang="en-US" sz="1600" dirty="0"/>
          </a:p>
        </p:txBody>
      </p:sp>
      <p:sp>
        <p:nvSpPr>
          <p:cNvPr id="11" name="Text 7"/>
          <p:cNvSpPr txBox="1"/>
          <p:nvPr/>
        </p:nvSpPr>
        <p:spPr>
          <a:xfrm>
            <a:off x="7035800" y="2533650"/>
            <a:ext cx="4089400" cy="8890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The total is worked out by the resort's server from the room's nightly rate, never by the guest's phone.</a:t>
            </a:r>
            <a:endParaRPr lang="en-US" sz="1300" dirty="0"/>
          </a:p>
        </p:txBody>
      </p:sp>
      <p:sp>
        <p:nvSpPr>
          <p:cNvPr id="12" name="Shape 8"/>
          <p:cNvSpPr/>
          <p:nvPr/>
        </p:nvSpPr>
        <p:spPr>
          <a:xfrm>
            <a:off x="812800" y="3740150"/>
            <a:ext cx="5181600" cy="1587500"/>
          </a:xfrm>
          <a:prstGeom prst="roundRect">
            <a:avLst>
              <a:gd name="adj" fmla="val 5530"/>
            </a:avLst>
          </a:prstGeom>
          <a:solidFill>
            <a:srgbClr val="FFFDF9"/>
          </a:solidFill>
          <a:ln w="9525">
            <a:solidFill>
              <a:srgbClr val="E6DCCD"/>
            </a:solidFill>
            <a:prstDash val="solid"/>
          </a:ln>
        </p:spPr>
      </p:sp>
      <p:pic>
        <p:nvPicPr>
          <p:cNvPr id="13" name="Image 2" descr="preencoded.png">    </p:cNvPr>
          <p:cNvPicPr>
            <a:picLocks noChangeAspect="1"/>
          </p:cNvPicPr>
          <p:nvPr/>
        </p:nvPicPr>
        <p:blipFill>
          <a:blip r:embed="rId3"/>
          <a:stretch>
            <a:fillRect/>
          </a:stretch>
        </p:blipFill>
        <p:spPr>
          <a:xfrm>
            <a:off x="1066800" y="3994150"/>
            <a:ext cx="406400" cy="406400"/>
          </a:xfrm>
          <a:prstGeom prst="rect">
            <a:avLst/>
          </a:prstGeom>
        </p:spPr>
      </p:pic>
      <p:sp>
        <p:nvSpPr>
          <p:cNvPr id="14" name="Text 9"/>
          <p:cNvSpPr txBox="1"/>
          <p:nvPr/>
        </p:nvSpPr>
        <p:spPr>
          <a:xfrm>
            <a:off x="1651000" y="3994150"/>
            <a:ext cx="40894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Safe accounts</a:t>
            </a:r>
            <a:endParaRPr lang="en-US" sz="1600" dirty="0"/>
          </a:p>
        </p:txBody>
      </p:sp>
      <p:sp>
        <p:nvSpPr>
          <p:cNvPr id="15" name="Text 10"/>
          <p:cNvSpPr txBox="1"/>
          <p:nvPr/>
        </p:nvSpPr>
        <p:spPr>
          <a:xfrm>
            <a:off x="1651000" y="4324350"/>
            <a:ext cx="4089400" cy="8890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Passwords are stored encrypted, repeated login attempts are limited, and each role sees only what it should.</a:t>
            </a:r>
            <a:endParaRPr lang="en-US" sz="1300" dirty="0"/>
          </a:p>
        </p:txBody>
      </p:sp>
      <p:sp>
        <p:nvSpPr>
          <p:cNvPr id="16" name="Shape 11"/>
          <p:cNvSpPr/>
          <p:nvPr/>
        </p:nvSpPr>
        <p:spPr>
          <a:xfrm>
            <a:off x="6197600" y="3740150"/>
            <a:ext cx="5181600" cy="1587500"/>
          </a:xfrm>
          <a:prstGeom prst="roundRect">
            <a:avLst>
              <a:gd name="adj" fmla="val 5530"/>
            </a:avLst>
          </a:prstGeom>
          <a:solidFill>
            <a:srgbClr val="FFFDF9"/>
          </a:solidFill>
          <a:ln w="9525">
            <a:solidFill>
              <a:srgbClr val="E6DCCD"/>
            </a:solidFill>
            <a:prstDash val="solid"/>
          </a:ln>
        </p:spPr>
      </p:sp>
      <p:pic>
        <p:nvPicPr>
          <p:cNvPr id="17" name="Image 3" descr="preencoded.png">    </p:cNvPr>
          <p:cNvPicPr>
            <a:picLocks noChangeAspect="1"/>
          </p:cNvPicPr>
          <p:nvPr/>
        </p:nvPicPr>
        <p:blipFill>
          <a:blip r:embed="rId4"/>
          <a:stretch>
            <a:fillRect/>
          </a:stretch>
        </p:blipFill>
        <p:spPr>
          <a:xfrm>
            <a:off x="6451600" y="3994150"/>
            <a:ext cx="406400" cy="406400"/>
          </a:xfrm>
          <a:prstGeom prst="rect">
            <a:avLst/>
          </a:prstGeom>
        </p:spPr>
      </p:pic>
      <p:sp>
        <p:nvSpPr>
          <p:cNvPr id="18" name="Text 12"/>
          <p:cNvSpPr txBox="1"/>
          <p:nvPr/>
        </p:nvSpPr>
        <p:spPr>
          <a:xfrm>
            <a:off x="7035800" y="3994150"/>
            <a:ext cx="4089400" cy="279400"/>
          </a:xfrm>
          <a:prstGeom prst="rect">
            <a:avLst/>
          </a:prstGeom>
          <a:noFill/>
          <a:ln/>
        </p:spPr>
        <p:txBody>
          <a:bodyPr wrap="square" lIns="0" tIns="0" rIns="0" bIns="0" rtlCol="0" anchor="t"/>
          <a:lstStyle/>
          <a:p>
            <a:pPr algn="l" indent="0" marL="0">
              <a:lnSpc>
                <a:spcPct val="120000"/>
              </a:lnSpc>
              <a:buNone/>
            </a:pPr>
            <a:r>
              <a:rPr lang="en-US" sz="1600" b="1" dirty="0">
                <a:solidFill>
                  <a:srgbClr val="1F3347"/>
                </a:solidFill>
                <a:latin typeface="Nunito Sans" pitchFamily="34" charset="0"/>
                <a:ea typeface="Nunito Sans" pitchFamily="34" charset="-122"/>
                <a:cs typeface="Nunito Sans" pitchFamily="34" charset="-120"/>
              </a:rPr>
              <a:t>Problems caught early</a:t>
            </a:r>
            <a:endParaRPr lang="en-US" sz="1600" dirty="0"/>
          </a:p>
        </p:txBody>
      </p:sp>
      <p:sp>
        <p:nvSpPr>
          <p:cNvPr id="19" name="Text 13"/>
          <p:cNvSpPr txBox="1"/>
          <p:nvPr/>
        </p:nvSpPr>
        <p:spPr>
          <a:xfrm>
            <a:off x="7035800" y="4324350"/>
            <a:ext cx="4089400" cy="889000"/>
          </a:xfrm>
          <a:prstGeom prst="rect">
            <a:avLst/>
          </a:prstGeom>
          <a:noFill/>
          <a:ln/>
        </p:spPr>
        <p:txBody>
          <a:bodyPr wrap="square" lIns="0" tIns="0" rIns="0" bIns="0" rtlCol="0" anchor="t"/>
          <a:lstStyle/>
          <a:p>
            <a:pPr algn="l" indent="0" marL="0">
              <a:lnSpc>
                <a:spcPct val="135000"/>
              </a:lnSpc>
              <a:buNone/>
            </a:pPr>
            <a:r>
              <a:rPr lang="en-US" sz="1300" dirty="0">
                <a:solidFill>
                  <a:srgbClr val="4A5360"/>
                </a:solidFill>
                <a:latin typeface="Nunito Sans" pitchFamily="34" charset="0"/>
                <a:ea typeface="Nunito Sans" pitchFamily="34" charset="-122"/>
                <a:cs typeface="Nunito Sans" pitchFamily="34" charset="-120"/>
              </a:rPr>
              <a:t>Error monitoring on both the app and the server flags crashes so the team can fix them fast.</a:t>
            </a:r>
            <a:endParaRPr lang="en-US" sz="1300" dirty="0"/>
          </a:p>
        </p:txBody>
      </p:sp>
      <p:sp>
        <p:nvSpPr>
          <p:cNvPr id="20" name="Text 14"/>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21" name="Text 15"/>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E8DA"/>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20000"/>
              </a:lnSpc>
              <a:buNone/>
            </a:pPr>
            <a:r>
              <a:rPr lang="en-US" sz="1300" b="1" spc="150" kern="0" dirty="0">
                <a:solidFill>
                  <a:srgbClr val="96401A"/>
                </a:solidFill>
                <a:latin typeface="Nunito Sans" pitchFamily="34" charset="0"/>
                <a:ea typeface="Nunito Sans" pitchFamily="34" charset="-122"/>
                <a:cs typeface="Nunito Sans" pitchFamily="34" charset="-120"/>
              </a:rPr>
              <a:t>THE BENEFITS</a:t>
            </a:r>
            <a:endParaRPr lang="en-US" sz="1300" dirty="0"/>
          </a:p>
        </p:txBody>
      </p:sp>
      <p:sp>
        <p:nvSpPr>
          <p:cNvPr id="3" name="Text 1"/>
          <p:cNvSpPr txBox="1"/>
          <p:nvPr/>
        </p:nvSpPr>
        <p:spPr>
          <a:xfrm>
            <a:off x="812800" y="1143000"/>
            <a:ext cx="10566400" cy="571500"/>
          </a:xfrm>
          <a:prstGeom prst="rect">
            <a:avLst/>
          </a:prstGeom>
          <a:noFill/>
          <a:ln/>
        </p:spPr>
        <p:txBody>
          <a:bodyPr wrap="square" lIns="0" tIns="0" rIns="0" bIns="0" rtlCol="0" anchor="t"/>
          <a:lstStyle/>
          <a:p>
            <a:pPr algn="l" indent="0" marL="0">
              <a:lnSpc>
                <a:spcPct val="105000"/>
              </a:lnSpc>
              <a:buNone/>
            </a:pPr>
            <a:r>
              <a:rPr lang="en-US" sz="3600" b="1" dirty="0">
                <a:solidFill>
                  <a:srgbClr val="1F3347"/>
                </a:solidFill>
                <a:latin typeface="Fredoka" pitchFamily="34" charset="0"/>
                <a:ea typeface="Fredoka" pitchFamily="34" charset="-122"/>
                <a:cs typeface="Fredoka" pitchFamily="34" charset="-120"/>
              </a:rPr>
              <a:t>Everyone at the resort wins</a:t>
            </a:r>
            <a:endParaRPr lang="en-US" sz="3600" dirty="0"/>
          </a:p>
        </p:txBody>
      </p:sp>
      <p:sp>
        <p:nvSpPr>
          <p:cNvPr id="4" name="Shape 2"/>
          <p:cNvSpPr/>
          <p:nvPr/>
        </p:nvSpPr>
        <p:spPr>
          <a:xfrm>
            <a:off x="812800" y="1949450"/>
            <a:ext cx="3352800" cy="3429000"/>
          </a:xfrm>
          <a:prstGeom prst="roundRect">
            <a:avLst>
              <a:gd name="adj" fmla="val 1240"/>
            </a:avLst>
          </a:prstGeom>
          <a:solidFill>
            <a:srgbClr val="FFFDF9"/>
          </a:solidFill>
          <a:ln/>
        </p:spPr>
      </p:sp>
      <p:pic>
        <p:nvPicPr>
          <p:cNvPr id="5" name="Image 0" descr="/tmp/claude-0/-home-claude/7d06284d-c71b-56e0-9fd5-4b6c44927ce3/scratchpad/pptx/img/ben-twin.png">    </p:cNvPr>
          <p:cNvPicPr>
            <a:picLocks noChangeAspect="1"/>
          </p:cNvPicPr>
          <p:nvPr/>
        </p:nvPicPr>
        <p:blipFill>
          <a:blip r:embed="rId1"/>
          <a:stretch>
            <a:fillRect/>
          </a:stretch>
        </p:blipFill>
        <p:spPr>
          <a:xfrm>
            <a:off x="812800" y="1949450"/>
            <a:ext cx="3352800" cy="1524000"/>
          </a:xfrm>
          <a:prstGeom prst="rect">
            <a:avLst/>
          </a:prstGeom>
        </p:spPr>
      </p:pic>
      <p:sp>
        <p:nvSpPr>
          <p:cNvPr id="6" name="Text 3"/>
          <p:cNvSpPr txBox="1"/>
          <p:nvPr/>
        </p:nvSpPr>
        <p:spPr>
          <a:xfrm>
            <a:off x="1041400" y="3625850"/>
            <a:ext cx="2895600" cy="381000"/>
          </a:xfrm>
          <a:prstGeom prst="rect">
            <a:avLst/>
          </a:prstGeom>
          <a:noFill/>
          <a:ln/>
        </p:spPr>
        <p:txBody>
          <a:bodyPr wrap="square" lIns="0" tIns="0" rIns="0" bIns="0" rtlCol="0" anchor="t"/>
          <a:lstStyle/>
          <a:p>
            <a:pPr algn="l" indent="0" marL="0">
              <a:lnSpc>
                <a:spcPct val="120000"/>
              </a:lnSpc>
              <a:buNone/>
            </a:pPr>
            <a:r>
              <a:rPr lang="en-US" sz="2200" b="1" dirty="0">
                <a:solidFill>
                  <a:srgbClr val="2E6B3A"/>
                </a:solidFill>
                <a:latin typeface="Fredoka" pitchFamily="34" charset="0"/>
                <a:ea typeface="Fredoka" pitchFamily="34" charset="-122"/>
                <a:cs typeface="Fredoka" pitchFamily="34" charset="-120"/>
              </a:rPr>
              <a:t>Guests</a:t>
            </a:r>
            <a:endParaRPr lang="en-US" sz="2200" dirty="0"/>
          </a:p>
        </p:txBody>
      </p:sp>
      <p:sp>
        <p:nvSpPr>
          <p:cNvPr id="7" name="Text 4"/>
          <p:cNvSpPr txBox="1"/>
          <p:nvPr/>
        </p:nvSpPr>
        <p:spPr>
          <a:xfrm>
            <a:off x="1041400" y="4083050"/>
            <a:ext cx="2895600" cy="1143000"/>
          </a:xfrm>
          <a:prstGeom prst="rect">
            <a:avLst/>
          </a:prstGeom>
          <a:noFill/>
          <a:ln/>
        </p:spPr>
        <p:txBody>
          <a:bodyPr wrap="square" lIns="0" tIns="0" rIns="0" bIns="0" rtlCol="0" anchor="t"/>
          <a:lstStyle/>
          <a:p>
            <a:pPr algn="l" indent="0" marL="0">
              <a:lnSpc>
                <a:spcPct val="135000"/>
              </a:lnSpc>
              <a:buNone/>
            </a:pPr>
            <a:r>
              <a:rPr lang="en-US" sz="1400" dirty="0">
                <a:solidFill>
                  <a:srgbClr val="4A5360"/>
                </a:solidFill>
                <a:latin typeface="Nunito Sans" pitchFamily="34" charset="0"/>
                <a:ea typeface="Nunito Sans" pitchFamily="34" charset="-122"/>
                <a:cs typeface="Nunito Sans" pitchFamily="34" charset="-120"/>
              </a:rPr>
              <a:t>Book on their own, any time of day, in a few taps, and always know the status of their stay.</a:t>
            </a:r>
            <a:endParaRPr lang="en-US" sz="1400" dirty="0"/>
          </a:p>
        </p:txBody>
      </p:sp>
      <p:sp>
        <p:nvSpPr>
          <p:cNvPr id="8" name="Shape 5"/>
          <p:cNvSpPr/>
          <p:nvPr/>
        </p:nvSpPr>
        <p:spPr>
          <a:xfrm>
            <a:off x="4419600" y="1949450"/>
            <a:ext cx="3352800" cy="3429000"/>
          </a:xfrm>
          <a:prstGeom prst="roundRect">
            <a:avLst>
              <a:gd name="adj" fmla="val 1240"/>
            </a:avLst>
          </a:prstGeom>
          <a:solidFill>
            <a:srgbClr val="FFFDF9"/>
          </a:solidFill>
          <a:ln/>
        </p:spPr>
      </p:sp>
      <p:pic>
        <p:nvPicPr>
          <p:cNvPr id="9" name="Image 1" descr="/tmp/claude-0/-home-claude/7d06284d-c71b-56e0-9fd5-4b6c44927ce3/scratchpad/pptx/img/ben-dusk.png">    </p:cNvPr>
          <p:cNvPicPr>
            <a:picLocks noChangeAspect="1"/>
          </p:cNvPicPr>
          <p:nvPr/>
        </p:nvPicPr>
        <p:blipFill>
          <a:blip r:embed="rId2"/>
          <a:stretch>
            <a:fillRect/>
          </a:stretch>
        </p:blipFill>
        <p:spPr>
          <a:xfrm>
            <a:off x="4419600" y="1949450"/>
            <a:ext cx="3352800" cy="1524000"/>
          </a:xfrm>
          <a:prstGeom prst="rect">
            <a:avLst/>
          </a:prstGeom>
        </p:spPr>
      </p:pic>
      <p:sp>
        <p:nvSpPr>
          <p:cNvPr id="10" name="Text 6"/>
          <p:cNvSpPr txBox="1"/>
          <p:nvPr/>
        </p:nvSpPr>
        <p:spPr>
          <a:xfrm>
            <a:off x="4648200" y="3625850"/>
            <a:ext cx="2895600" cy="381000"/>
          </a:xfrm>
          <a:prstGeom prst="rect">
            <a:avLst/>
          </a:prstGeom>
          <a:noFill/>
          <a:ln/>
        </p:spPr>
        <p:txBody>
          <a:bodyPr wrap="square" lIns="0" tIns="0" rIns="0" bIns="0" rtlCol="0" anchor="t"/>
          <a:lstStyle/>
          <a:p>
            <a:pPr algn="l" indent="0" marL="0">
              <a:lnSpc>
                <a:spcPct val="120000"/>
              </a:lnSpc>
              <a:buNone/>
            </a:pPr>
            <a:r>
              <a:rPr lang="en-US" sz="2200" b="1" dirty="0">
                <a:solidFill>
                  <a:srgbClr val="A8451C"/>
                </a:solidFill>
                <a:latin typeface="Fredoka" pitchFamily="34" charset="0"/>
                <a:ea typeface="Fredoka" pitchFamily="34" charset="-122"/>
                <a:cs typeface="Fredoka" pitchFamily="34" charset="-120"/>
              </a:rPr>
              <a:t>Owner</a:t>
            </a:r>
            <a:endParaRPr lang="en-US" sz="2200" dirty="0"/>
          </a:p>
        </p:txBody>
      </p:sp>
      <p:sp>
        <p:nvSpPr>
          <p:cNvPr id="11" name="Text 7"/>
          <p:cNvSpPr txBox="1"/>
          <p:nvPr/>
        </p:nvSpPr>
        <p:spPr>
          <a:xfrm>
            <a:off x="4648200" y="4083050"/>
            <a:ext cx="2895600" cy="1143000"/>
          </a:xfrm>
          <a:prstGeom prst="rect">
            <a:avLst/>
          </a:prstGeom>
          <a:noFill/>
          <a:ln/>
        </p:spPr>
        <p:txBody>
          <a:bodyPr wrap="square" lIns="0" tIns="0" rIns="0" bIns="0" rtlCol="0" anchor="t"/>
          <a:lstStyle/>
          <a:p>
            <a:pPr algn="l" indent="0" marL="0">
              <a:lnSpc>
                <a:spcPct val="135000"/>
              </a:lnSpc>
              <a:buNone/>
            </a:pPr>
            <a:r>
              <a:rPr lang="en-US" sz="1400" dirty="0">
                <a:solidFill>
                  <a:srgbClr val="4A5360"/>
                </a:solidFill>
                <a:latin typeface="Nunito Sans" pitchFamily="34" charset="0"/>
                <a:ea typeface="Nunito Sans" pitchFamily="34" charset="-122"/>
                <a:cs typeface="Nunito Sans" pitchFamily="34" charset="-120"/>
              </a:rPr>
              <a:t>More direct bookings, less reliance on high-commission travel sites, and live revenue and occupancy.</a:t>
            </a:r>
            <a:endParaRPr lang="en-US" sz="1400" dirty="0"/>
          </a:p>
        </p:txBody>
      </p:sp>
      <p:sp>
        <p:nvSpPr>
          <p:cNvPr id="12" name="Shape 8"/>
          <p:cNvSpPr/>
          <p:nvPr/>
        </p:nvSpPr>
        <p:spPr>
          <a:xfrm>
            <a:off x="8026400" y="1949450"/>
            <a:ext cx="3352800" cy="3429000"/>
          </a:xfrm>
          <a:prstGeom prst="roundRect">
            <a:avLst>
              <a:gd name="adj" fmla="val 1240"/>
            </a:avLst>
          </a:prstGeom>
          <a:solidFill>
            <a:srgbClr val="FFFDF9"/>
          </a:solidFill>
          <a:ln/>
        </p:spPr>
      </p:sp>
      <p:pic>
        <p:nvPicPr>
          <p:cNvPr id="13" name="Image 2" descr="/tmp/claude-0/-home-claude/7d06284d-c71b-56e0-9fd5-4b6c44927ce3/scratchpad/pptx/img/ben-king.png">    </p:cNvPr>
          <p:cNvPicPr>
            <a:picLocks noChangeAspect="1"/>
          </p:cNvPicPr>
          <p:nvPr/>
        </p:nvPicPr>
        <p:blipFill>
          <a:blip r:embed="rId3"/>
          <a:stretch>
            <a:fillRect/>
          </a:stretch>
        </p:blipFill>
        <p:spPr>
          <a:xfrm>
            <a:off x="8026400" y="1949450"/>
            <a:ext cx="3352800" cy="1524000"/>
          </a:xfrm>
          <a:prstGeom prst="rect">
            <a:avLst/>
          </a:prstGeom>
        </p:spPr>
      </p:pic>
      <p:sp>
        <p:nvSpPr>
          <p:cNvPr id="14" name="Text 9"/>
          <p:cNvSpPr txBox="1"/>
          <p:nvPr/>
        </p:nvSpPr>
        <p:spPr>
          <a:xfrm>
            <a:off x="8255000" y="3625850"/>
            <a:ext cx="2895600" cy="381000"/>
          </a:xfrm>
          <a:prstGeom prst="rect">
            <a:avLst/>
          </a:prstGeom>
          <a:noFill/>
          <a:ln/>
        </p:spPr>
        <p:txBody>
          <a:bodyPr wrap="square" lIns="0" tIns="0" rIns="0" bIns="0" rtlCol="0" anchor="t"/>
          <a:lstStyle/>
          <a:p>
            <a:pPr algn="l" indent="0" marL="0">
              <a:lnSpc>
                <a:spcPct val="120000"/>
              </a:lnSpc>
              <a:buNone/>
            </a:pPr>
            <a:r>
              <a:rPr lang="en-US" sz="2200" b="1" dirty="0">
                <a:solidFill>
                  <a:srgbClr val="1F3347"/>
                </a:solidFill>
                <a:latin typeface="Fredoka" pitchFamily="34" charset="0"/>
                <a:ea typeface="Fredoka" pitchFamily="34" charset="-122"/>
                <a:cs typeface="Fredoka" pitchFamily="34" charset="-120"/>
              </a:rPr>
              <a:t>Staff</a:t>
            </a:r>
            <a:endParaRPr lang="en-US" sz="2200" dirty="0"/>
          </a:p>
        </p:txBody>
      </p:sp>
      <p:sp>
        <p:nvSpPr>
          <p:cNvPr id="15" name="Text 10"/>
          <p:cNvSpPr txBox="1"/>
          <p:nvPr/>
        </p:nvSpPr>
        <p:spPr>
          <a:xfrm>
            <a:off x="8255000" y="4083050"/>
            <a:ext cx="2895600" cy="1143000"/>
          </a:xfrm>
          <a:prstGeom prst="rect">
            <a:avLst/>
          </a:prstGeom>
          <a:noFill/>
          <a:ln/>
        </p:spPr>
        <p:txBody>
          <a:bodyPr wrap="square" lIns="0" tIns="0" rIns="0" bIns="0" rtlCol="0" anchor="t"/>
          <a:lstStyle/>
          <a:p>
            <a:pPr algn="l" indent="0" marL="0">
              <a:lnSpc>
                <a:spcPct val="135000"/>
              </a:lnSpc>
              <a:buNone/>
            </a:pPr>
            <a:r>
              <a:rPr lang="en-US" sz="1400" dirty="0">
                <a:solidFill>
                  <a:srgbClr val="4A5360"/>
                </a:solidFill>
                <a:latin typeface="Nunito Sans" pitchFamily="34" charset="0"/>
                <a:ea typeface="Nunito Sans" pitchFamily="34" charset="-122"/>
                <a:cs typeface="Nunito Sans" pitchFamily="34" charset="-120"/>
              </a:rPr>
              <a:t>Less paperwork, fewer data-entry mistakes, and one shared calendar instead of a notebook.</a:t>
            </a:r>
            <a:endParaRPr lang="en-US" sz="1400" dirty="0"/>
          </a:p>
        </p:txBody>
      </p:sp>
      <p:sp>
        <p:nvSpPr>
          <p:cNvPr id="16" name="Text 11"/>
          <p:cNvSpPr txBox="1"/>
          <p:nvPr/>
        </p:nvSpPr>
        <p:spPr>
          <a:xfrm>
            <a:off x="812800" y="6235700"/>
            <a:ext cx="5715000" cy="215900"/>
          </a:xfrm>
          <a:prstGeom prst="rect">
            <a:avLst/>
          </a:prstGeom>
          <a:noFill/>
          <a:ln/>
        </p:spPr>
        <p:txBody>
          <a:bodyPr wrap="square" lIns="0" tIns="0" rIns="0" bIns="0" rtlCol="0" anchor="t"/>
          <a:lstStyle/>
          <a:p>
            <a:pPr algn="l"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Poonsuk Resort · RBMA</a:t>
            </a:r>
            <a:endParaRPr lang="en-US" sz="1200" dirty="0"/>
          </a:p>
        </p:txBody>
      </p:sp>
      <p:sp>
        <p:nvSpPr>
          <p:cNvPr id="17" name="Text 12"/>
          <p:cNvSpPr txBox="1"/>
          <p:nvPr/>
        </p:nvSpPr>
        <p:spPr>
          <a:xfrm>
            <a:off x="7569200" y="6235700"/>
            <a:ext cx="3810000" cy="215900"/>
          </a:xfrm>
          <a:prstGeom prst="rect">
            <a:avLst/>
          </a:prstGeom>
          <a:noFill/>
          <a:ln/>
        </p:spPr>
        <p:txBody>
          <a:bodyPr wrap="square" lIns="0" tIns="0" rIns="0" bIns="0" rtlCol="0" anchor="t"/>
          <a:lstStyle/>
          <a:p>
            <a:pPr algn="r" indent="0" marL="0">
              <a:lnSpc>
                <a:spcPct val="120000"/>
              </a:lnSpc>
              <a:buNone/>
            </a:pPr>
            <a:r>
              <a:rPr lang="en-US" sz="1200" dirty="0">
                <a:solidFill>
                  <a:srgbClr val="5E6673"/>
                </a:solidFill>
                <a:latin typeface="Nunito Sans" pitchFamily="34" charset="0"/>
                <a:ea typeface="Nunito Sans" pitchFamily="34" charset="-122"/>
                <a:cs typeface="Nunito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3347"/>
        </a:solidFill>
      </p:bgPr>
    </p:bg>
    <p:spTree>
      <p:nvGrpSpPr>
        <p:cNvPr id="1" name=""/>
        <p:cNvGrpSpPr/>
        <p:nvPr/>
      </p:nvGrpSpPr>
      <p:grpSpPr>
        <a:xfrm>
          <a:off x="0" y="0"/>
          <a:ext cx="0" cy="0"/>
          <a:chOff x="0" y="0"/>
          <a:chExt cx="0" cy="0"/>
        </a:xfrm>
      </p:grpSpPr>
      <p:pic>
        <p:nvPicPr>
          <p:cNvPr id="2" name="Image 0" descr="/tmp/claude-0/-home-claude/7d06284d-c71b-56e0-9fd5-4b6c44927ce3/scratchpad/pptx/img/thanks-dusk.jpg">    </p:cNvPr>
          <p:cNvPicPr>
            <a:picLocks noChangeAspect="1"/>
          </p:cNvPicPr>
          <p:nvPr/>
        </p:nvPicPr>
        <p:blipFill>
          <a:blip r:embed="rId1"/>
          <a:stretch>
            <a:fillRect/>
          </a:stretch>
        </p:blipFill>
        <p:spPr>
          <a:xfrm>
            <a:off x="7315200" y="0"/>
            <a:ext cx="4876800" cy="6858000"/>
          </a:xfrm>
          <a:prstGeom prst="rect">
            <a:avLst/>
          </a:prstGeom>
        </p:spPr>
      </p:pic>
      <p:pic>
        <p:nvPicPr>
          <p:cNvPr id="3" name="Image 1" descr="/tmp/claude-0/-home-claude/7d06284d-c71b-56e0-9fd5-4b6c44927ce3/scratchpad/pptx/img/logo.png">    </p:cNvPr>
          <p:cNvPicPr>
            <a:picLocks noChangeAspect="1"/>
          </p:cNvPicPr>
          <p:nvPr/>
        </p:nvPicPr>
        <p:blipFill>
          <a:blip r:embed="rId2"/>
          <a:stretch>
            <a:fillRect/>
          </a:stretch>
        </p:blipFill>
        <p:spPr>
          <a:xfrm>
            <a:off x="9093200" y="4724400"/>
            <a:ext cx="1320800" cy="1320800"/>
          </a:xfrm>
          <a:prstGeom prst="rect">
            <a:avLst/>
          </a:prstGeom>
        </p:spPr>
      </p:pic>
      <p:sp>
        <p:nvSpPr>
          <p:cNvPr id="4" name="Text 0"/>
          <p:cNvSpPr txBox="1"/>
          <p:nvPr/>
        </p:nvSpPr>
        <p:spPr>
          <a:xfrm>
            <a:off x="812800" y="1638300"/>
            <a:ext cx="5715000" cy="825500"/>
          </a:xfrm>
          <a:prstGeom prst="rect">
            <a:avLst/>
          </a:prstGeom>
          <a:noFill/>
          <a:ln/>
        </p:spPr>
        <p:txBody>
          <a:bodyPr wrap="square" lIns="0" tIns="0" rIns="0" bIns="0" rtlCol="0" anchor="t"/>
          <a:lstStyle/>
          <a:p>
            <a:pPr algn="l" indent="0" marL="0">
              <a:lnSpc>
                <a:spcPct val="120000"/>
              </a:lnSpc>
              <a:buNone/>
            </a:pPr>
            <a:r>
              <a:rPr lang="en-US" sz="6000" b="1" dirty="0">
                <a:solidFill>
                  <a:srgbClr val="FAF6EF"/>
                </a:solidFill>
                <a:latin typeface="Fredoka" pitchFamily="34" charset="0"/>
                <a:ea typeface="Fredoka" pitchFamily="34" charset="-122"/>
                <a:cs typeface="Fredoka" pitchFamily="34" charset="-120"/>
              </a:rPr>
              <a:t>Thank you</a:t>
            </a:r>
            <a:endParaRPr lang="en-US" sz="6000" dirty="0"/>
          </a:p>
        </p:txBody>
      </p:sp>
      <p:sp>
        <p:nvSpPr>
          <p:cNvPr id="5" name="Text 1"/>
          <p:cNvSpPr txBox="1"/>
          <p:nvPr/>
        </p:nvSpPr>
        <p:spPr>
          <a:xfrm>
            <a:off x="812800" y="2641600"/>
            <a:ext cx="5715000" cy="762000"/>
          </a:xfrm>
          <a:prstGeom prst="rect">
            <a:avLst/>
          </a:prstGeom>
          <a:noFill/>
          <a:ln/>
        </p:spPr>
        <p:txBody>
          <a:bodyPr wrap="square" lIns="0" tIns="0" rIns="0" bIns="0" rtlCol="0" anchor="t"/>
          <a:lstStyle/>
          <a:p>
            <a:pPr algn="l" indent="0" marL="0">
              <a:lnSpc>
                <a:spcPct val="130000"/>
              </a:lnSpc>
              <a:buNone/>
            </a:pPr>
            <a:r>
              <a:rPr lang="en-US" sz="2000" dirty="0">
                <a:solidFill>
                  <a:srgbClr val="F2A23A"/>
                </a:solidFill>
                <a:latin typeface="Sarabun" pitchFamily="34" charset="0"/>
                <a:ea typeface="Sarabun" pitchFamily="34" charset="-122"/>
                <a:cs typeface="Sarabun" pitchFamily="34" charset="-120"/>
              </a:rPr>
              <a:t>ขอบคุณครับ · Questions and suggestions are welcome</a:t>
            </a:r>
            <a:endParaRPr lang="en-US" sz="2000" dirty="0"/>
          </a:p>
        </p:txBody>
      </p:sp>
      <p:sp>
        <p:nvSpPr>
          <p:cNvPr id="6" name="Shape 2"/>
          <p:cNvSpPr/>
          <p:nvPr/>
        </p:nvSpPr>
        <p:spPr>
          <a:xfrm>
            <a:off x="812800" y="3556000"/>
            <a:ext cx="5588000" cy="12700"/>
          </a:xfrm>
          <a:prstGeom prst="rect">
            <a:avLst/>
          </a:prstGeom>
          <a:solidFill>
            <a:srgbClr val="3E5873"/>
          </a:solidFill>
          <a:ln/>
        </p:spPr>
      </p:sp>
      <p:sp>
        <p:nvSpPr>
          <p:cNvPr id="7" name="Text 3"/>
          <p:cNvSpPr txBox="1"/>
          <p:nvPr/>
        </p:nvSpPr>
        <p:spPr>
          <a:xfrm>
            <a:off x="812800" y="3771900"/>
            <a:ext cx="5715000" cy="304800"/>
          </a:xfrm>
          <a:prstGeom prst="rect">
            <a:avLst/>
          </a:prstGeom>
          <a:noFill/>
          <a:ln/>
        </p:spPr>
        <p:txBody>
          <a:bodyPr wrap="square" lIns="0" tIns="0" rIns="0" bIns="0" rtlCol="0" anchor="t"/>
          <a:lstStyle/>
          <a:p>
            <a:pPr indent="0" marL="0">
              <a:buNone/>
            </a:pPr>
            <a:r>
              <a:rPr lang="en-US" sz="1600" b="1" dirty="0">
                <a:solidFill>
                  <a:srgbClr val="FAF6EF"/>
                </a:solidFill>
                <a:latin typeface="Nunito Sans" pitchFamily="34" charset="0"/>
                <a:ea typeface="Nunito Sans" pitchFamily="34" charset="-122"/>
                <a:cs typeface="Nunito Sans" pitchFamily="34" charset="-120"/>
              </a:rPr>
              <a:t>Peeranat Pathomkul</a:t>
            </a:r>
            <a:pPr indent="0" marL="0">
              <a:buNone/>
            </a:pPr>
            <a:r>
              <a:rPr lang="en-US" sz="1600" dirty="0">
                <a:solidFill>
                  <a:srgbClr val="C9D4DE"/>
                </a:solidFill>
                <a:latin typeface="Nunito Sans" pitchFamily="34" charset="0"/>
                <a:ea typeface="Nunito Sans" pitchFamily="34" charset="-122"/>
                <a:cs typeface="Nunito Sans" pitchFamily="34" charset="-120"/>
              </a:rPr>
              <a:t>  ·  6610110214</a:t>
            </a:r>
            <a:endParaRPr lang="en-US" sz="1600" dirty="0"/>
          </a:p>
        </p:txBody>
      </p:sp>
      <p:sp>
        <p:nvSpPr>
          <p:cNvPr id="8" name="Text 4"/>
          <p:cNvSpPr txBox="1"/>
          <p:nvPr/>
        </p:nvSpPr>
        <p:spPr>
          <a:xfrm>
            <a:off x="812800" y="4133850"/>
            <a:ext cx="5715000" cy="304800"/>
          </a:xfrm>
          <a:prstGeom prst="rect">
            <a:avLst/>
          </a:prstGeom>
          <a:noFill/>
          <a:ln/>
        </p:spPr>
        <p:txBody>
          <a:bodyPr wrap="square" lIns="0" tIns="0" rIns="0" bIns="0" rtlCol="0" anchor="t"/>
          <a:lstStyle/>
          <a:p>
            <a:pPr indent="0" marL="0">
              <a:buNone/>
            </a:pPr>
            <a:r>
              <a:rPr lang="en-US" sz="1600" b="1" dirty="0">
                <a:solidFill>
                  <a:srgbClr val="FAF6EF"/>
                </a:solidFill>
                <a:latin typeface="Nunito Sans" pitchFamily="34" charset="0"/>
                <a:ea typeface="Nunito Sans" pitchFamily="34" charset="-122"/>
                <a:cs typeface="Nunito Sans" pitchFamily="34" charset="-120"/>
              </a:rPr>
              <a:t>Phonlawat Thaenthong</a:t>
            </a:r>
            <a:pPr indent="0" marL="0">
              <a:buNone/>
            </a:pPr>
            <a:r>
              <a:rPr lang="en-US" sz="1600" dirty="0">
                <a:solidFill>
                  <a:srgbClr val="C9D4DE"/>
                </a:solidFill>
                <a:latin typeface="Nunito Sans" pitchFamily="34" charset="0"/>
                <a:ea typeface="Nunito Sans" pitchFamily="34" charset="-122"/>
                <a:cs typeface="Nunito Sans" pitchFamily="34" charset="-120"/>
              </a:rPr>
              <a:t>  ·  6610110196</a:t>
            </a:r>
            <a:endParaRPr lang="en-US" sz="1600" dirty="0"/>
          </a:p>
        </p:txBody>
      </p:sp>
      <p:sp>
        <p:nvSpPr>
          <p:cNvPr id="9" name="Text 5"/>
          <p:cNvSpPr txBox="1"/>
          <p:nvPr/>
        </p:nvSpPr>
        <p:spPr>
          <a:xfrm>
            <a:off x="812800" y="4495800"/>
            <a:ext cx="5715000" cy="304800"/>
          </a:xfrm>
          <a:prstGeom prst="rect">
            <a:avLst/>
          </a:prstGeom>
          <a:noFill/>
          <a:ln/>
        </p:spPr>
        <p:txBody>
          <a:bodyPr wrap="square" lIns="0" tIns="0" rIns="0" bIns="0" rtlCol="0" anchor="t"/>
          <a:lstStyle/>
          <a:p>
            <a:pPr indent="0" marL="0">
              <a:buNone/>
            </a:pPr>
            <a:r>
              <a:rPr lang="en-US" sz="1600" b="1" dirty="0">
                <a:solidFill>
                  <a:srgbClr val="FAF6EF"/>
                </a:solidFill>
                <a:latin typeface="Nunito Sans" pitchFamily="34" charset="0"/>
                <a:ea typeface="Nunito Sans" pitchFamily="34" charset="-122"/>
                <a:cs typeface="Nunito Sans" pitchFamily="34" charset="-120"/>
              </a:rPr>
              <a:t>Pawaris Phansatithwong</a:t>
            </a:r>
            <a:pPr indent="0" marL="0">
              <a:buNone/>
            </a:pPr>
            <a:r>
              <a:rPr lang="en-US" sz="1600" dirty="0">
                <a:solidFill>
                  <a:srgbClr val="C9D4DE"/>
                </a:solidFill>
                <a:latin typeface="Nunito Sans" pitchFamily="34" charset="0"/>
                <a:ea typeface="Nunito Sans" pitchFamily="34" charset="-122"/>
                <a:cs typeface="Nunito Sans" pitchFamily="34" charset="-120"/>
              </a:rPr>
              <a:t>  ·  6610110173</a:t>
            </a:r>
            <a:endParaRPr lang="en-US" sz="1600" dirty="0"/>
          </a:p>
        </p:txBody>
      </p:sp>
      <p:sp>
        <p:nvSpPr>
          <p:cNvPr id="10" name="Text 6"/>
          <p:cNvSpPr txBox="1"/>
          <p:nvPr/>
        </p:nvSpPr>
        <p:spPr>
          <a:xfrm>
            <a:off x="812800" y="5016500"/>
            <a:ext cx="5715000" cy="254000"/>
          </a:xfrm>
          <a:prstGeom prst="rect">
            <a:avLst/>
          </a:prstGeom>
          <a:noFill/>
          <a:ln/>
        </p:spPr>
        <p:txBody>
          <a:bodyPr wrap="square" lIns="0" tIns="0" rIns="0" bIns="0" rtlCol="0" anchor="t"/>
          <a:lstStyle/>
          <a:p>
            <a:pPr algn="l" indent="0" marL="0">
              <a:lnSpc>
                <a:spcPct val="120000"/>
              </a:lnSpc>
              <a:buNone/>
            </a:pPr>
            <a:r>
              <a:rPr lang="en-US" sz="1300" dirty="0">
                <a:solidFill>
                  <a:srgbClr val="C9D4DE"/>
                </a:solidFill>
                <a:latin typeface="Nunito Sans" pitchFamily="34" charset="0"/>
                <a:ea typeface="Nunito Sans" pitchFamily="34" charset="-122"/>
                <a:cs typeface="Nunito Sans" pitchFamily="34" charset="-120"/>
              </a:rPr>
              <a:t>Resort Booking and Management Application (RBMA)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Poonsuk Resort App Pitch</dc:title>
  <dc:subject>PptxGenJS Presentation</dc:subject>
  <dc:creator>PptxGenJS</dc:creator>
  <cp:lastModifiedBy>PptxGenJS</cp:lastModifiedBy>
  <cp:revision>1</cp:revision>
  <dcterms:created xsi:type="dcterms:W3CDTF">2026-09-28T14:18:17Z</dcterms:created>
  <dcterms:modified xsi:type="dcterms:W3CDTF">2026-09-28T14:18:17Z</dcterms:modified>
</cp:coreProperties>
</file>